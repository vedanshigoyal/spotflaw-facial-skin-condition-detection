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</p:sldIdLst>
  <p:sldSz cx="18288000" cy="10287000"/>
  <p:notesSz cx="6858000" cy="9144000"/>
  <p:embeddedFontLst>
    <p:embeddedFont>
      <p:font typeface="Arimo" panose="020B0604020202020204" charset="0"/>
      <p:regular r:id="rId12"/>
    </p:embeddedFont>
    <p:embeddedFont>
      <p:font typeface="Canva Sans" panose="020B0604020202020204" charset="0"/>
      <p:regular r:id="rId13"/>
    </p:embeddedFont>
    <p:embeddedFont>
      <p:font typeface="Canva Sans Bold" panose="020B0604020202020204" charset="0"/>
      <p:regular r:id="rId14"/>
    </p:embeddedFont>
    <p:embeddedFont>
      <p:font typeface="Catamaran" panose="020B0604020202020204" charset="0"/>
      <p:regular r:id="rId15"/>
    </p:embeddedFont>
    <p:embeddedFont>
      <p:font typeface="Catamaran Bold" panose="020B0604020202020204" charset="0"/>
      <p:regular r:id="rId16"/>
    </p:embeddedFont>
    <p:embeddedFont>
      <p:font typeface="DM Sans" pitchFamily="2" charset="0"/>
      <p:regular r:id="rId17"/>
    </p:embeddedFont>
    <p:embeddedFont>
      <p:font typeface="Inter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38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A1CA04-2E29-4B79-821A-FB88E3BEFA5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A2E3705-ACB0-4B6E-9236-3FF873BAFD4C}">
      <dgm:prSet/>
      <dgm:spPr/>
      <dgm:t>
        <a:bodyPr/>
        <a:lstStyle/>
        <a:p>
          <a:r>
            <a:rPr lang="en-US" b="1" dirty="0"/>
            <a:t>VEDANSHI GOYAL</a:t>
          </a:r>
          <a:endParaRPr lang="en-US" dirty="0"/>
        </a:p>
      </dgm:t>
    </dgm:pt>
    <dgm:pt modelId="{F8C3EF8E-B7AA-42DA-AA57-86BA57D3B810}" type="parTrans" cxnId="{82D05EDA-5632-48CC-ADBB-E534FFF0588C}">
      <dgm:prSet/>
      <dgm:spPr/>
      <dgm:t>
        <a:bodyPr/>
        <a:lstStyle/>
        <a:p>
          <a:endParaRPr lang="en-US"/>
        </a:p>
      </dgm:t>
    </dgm:pt>
    <dgm:pt modelId="{4946A6FA-1EAC-429B-9B1C-1654168DD63F}" type="sibTrans" cxnId="{82D05EDA-5632-48CC-ADBB-E534FFF0588C}">
      <dgm:prSet/>
      <dgm:spPr/>
      <dgm:t>
        <a:bodyPr/>
        <a:lstStyle/>
        <a:p>
          <a:endParaRPr lang="en-US"/>
        </a:p>
      </dgm:t>
    </dgm:pt>
    <dgm:pt modelId="{7638374B-7B53-4A2D-8FD3-0596196BD202}">
      <dgm:prSet/>
      <dgm:spPr/>
      <dgm:t>
        <a:bodyPr/>
        <a:lstStyle/>
        <a:p>
          <a:r>
            <a:rPr lang="en-US" b="1"/>
            <a:t>NAVYA KHANDELWAL </a:t>
          </a:r>
          <a:endParaRPr lang="en-US"/>
        </a:p>
      </dgm:t>
    </dgm:pt>
    <dgm:pt modelId="{A563F644-7F1E-4521-BD63-EA05A42B908D}" type="parTrans" cxnId="{FC32F602-03E2-4EE4-82B0-6ED139174D52}">
      <dgm:prSet/>
      <dgm:spPr/>
      <dgm:t>
        <a:bodyPr/>
        <a:lstStyle/>
        <a:p>
          <a:endParaRPr lang="en-US"/>
        </a:p>
      </dgm:t>
    </dgm:pt>
    <dgm:pt modelId="{4846C26E-0BCE-425A-B35C-8C0C21DC100A}" type="sibTrans" cxnId="{FC32F602-03E2-4EE4-82B0-6ED139174D52}">
      <dgm:prSet/>
      <dgm:spPr/>
      <dgm:t>
        <a:bodyPr/>
        <a:lstStyle/>
        <a:p>
          <a:endParaRPr lang="en-US"/>
        </a:p>
      </dgm:t>
    </dgm:pt>
    <dgm:pt modelId="{449B4594-3823-4C28-9CC5-81B721BE581C}">
      <dgm:prSet/>
      <dgm:spPr/>
      <dgm:t>
        <a:bodyPr/>
        <a:lstStyle/>
        <a:p>
          <a:r>
            <a:rPr lang="en-US" b="1"/>
            <a:t>ANJALI BANWANI</a:t>
          </a:r>
          <a:endParaRPr lang="en-US"/>
        </a:p>
      </dgm:t>
    </dgm:pt>
    <dgm:pt modelId="{9B7657B6-A65F-4D52-A222-449A280A729A}" type="parTrans" cxnId="{256FF4E2-19DF-4ABD-8A9F-2535132B5581}">
      <dgm:prSet/>
      <dgm:spPr/>
      <dgm:t>
        <a:bodyPr/>
        <a:lstStyle/>
        <a:p>
          <a:endParaRPr lang="en-US"/>
        </a:p>
      </dgm:t>
    </dgm:pt>
    <dgm:pt modelId="{639523C0-7310-4DFB-94C1-3E62B212C772}" type="sibTrans" cxnId="{256FF4E2-19DF-4ABD-8A9F-2535132B5581}">
      <dgm:prSet/>
      <dgm:spPr/>
      <dgm:t>
        <a:bodyPr/>
        <a:lstStyle/>
        <a:p>
          <a:endParaRPr lang="en-US"/>
        </a:p>
      </dgm:t>
    </dgm:pt>
    <dgm:pt modelId="{8230A3A0-F4A2-4086-880B-0D4FEDC29DAA}">
      <dgm:prSet/>
      <dgm:spPr/>
      <dgm:t>
        <a:bodyPr/>
        <a:lstStyle/>
        <a:p>
          <a:r>
            <a:rPr lang="en-US" b="1"/>
            <a:t>MRIDUL KRISHNA SHARMA</a:t>
          </a:r>
          <a:endParaRPr lang="en-US"/>
        </a:p>
      </dgm:t>
    </dgm:pt>
    <dgm:pt modelId="{B153A4DD-E9BD-4D65-BBE1-77E0DDA0ED62}" type="parTrans" cxnId="{46A4D625-5F58-4125-AE53-B9DE80BB8A3D}">
      <dgm:prSet/>
      <dgm:spPr/>
      <dgm:t>
        <a:bodyPr/>
        <a:lstStyle/>
        <a:p>
          <a:endParaRPr lang="en-US"/>
        </a:p>
      </dgm:t>
    </dgm:pt>
    <dgm:pt modelId="{6E31A449-B8A2-4C11-B12D-2CB07BAE722B}" type="sibTrans" cxnId="{46A4D625-5F58-4125-AE53-B9DE80BB8A3D}">
      <dgm:prSet/>
      <dgm:spPr/>
      <dgm:t>
        <a:bodyPr/>
        <a:lstStyle/>
        <a:p>
          <a:endParaRPr lang="en-US"/>
        </a:p>
      </dgm:t>
    </dgm:pt>
    <dgm:pt modelId="{6A82A84D-DD5D-44FF-A1DF-FCC40875ED69}" type="pres">
      <dgm:prSet presAssocID="{0DA1CA04-2E29-4B79-821A-FB88E3BEFA56}" presName="vert0" presStyleCnt="0">
        <dgm:presLayoutVars>
          <dgm:dir/>
          <dgm:animOne val="branch"/>
          <dgm:animLvl val="lvl"/>
        </dgm:presLayoutVars>
      </dgm:prSet>
      <dgm:spPr/>
    </dgm:pt>
    <dgm:pt modelId="{046195BF-78F4-49EE-A44A-6891DEADF151}" type="pres">
      <dgm:prSet presAssocID="{BA2E3705-ACB0-4B6E-9236-3FF873BAFD4C}" presName="thickLine" presStyleLbl="alignNode1" presStyleIdx="0" presStyleCnt="4"/>
      <dgm:spPr/>
    </dgm:pt>
    <dgm:pt modelId="{FC2921DE-FF69-4A23-9A4A-9EB11EDAEE66}" type="pres">
      <dgm:prSet presAssocID="{BA2E3705-ACB0-4B6E-9236-3FF873BAFD4C}" presName="horz1" presStyleCnt="0"/>
      <dgm:spPr/>
    </dgm:pt>
    <dgm:pt modelId="{3F53E476-5B68-40DF-B7CE-EF6148AF87C5}" type="pres">
      <dgm:prSet presAssocID="{BA2E3705-ACB0-4B6E-9236-3FF873BAFD4C}" presName="tx1" presStyleLbl="revTx" presStyleIdx="0" presStyleCnt="4"/>
      <dgm:spPr/>
    </dgm:pt>
    <dgm:pt modelId="{898BA00A-E6CC-485B-B9FB-8EC2E381DF5F}" type="pres">
      <dgm:prSet presAssocID="{BA2E3705-ACB0-4B6E-9236-3FF873BAFD4C}" presName="vert1" presStyleCnt="0"/>
      <dgm:spPr/>
    </dgm:pt>
    <dgm:pt modelId="{9825ADE3-8CEA-46B9-BB4F-EDB1760E60BD}" type="pres">
      <dgm:prSet presAssocID="{7638374B-7B53-4A2D-8FD3-0596196BD202}" presName="thickLine" presStyleLbl="alignNode1" presStyleIdx="1" presStyleCnt="4"/>
      <dgm:spPr/>
    </dgm:pt>
    <dgm:pt modelId="{9CF3D822-E069-4310-A516-7F43B1CD9A5E}" type="pres">
      <dgm:prSet presAssocID="{7638374B-7B53-4A2D-8FD3-0596196BD202}" presName="horz1" presStyleCnt="0"/>
      <dgm:spPr/>
    </dgm:pt>
    <dgm:pt modelId="{A7D59AE7-6439-4FC4-8280-DF365AF7449C}" type="pres">
      <dgm:prSet presAssocID="{7638374B-7B53-4A2D-8FD3-0596196BD202}" presName="tx1" presStyleLbl="revTx" presStyleIdx="1" presStyleCnt="4"/>
      <dgm:spPr/>
    </dgm:pt>
    <dgm:pt modelId="{9EF7ED62-9F08-4A94-990F-F2A5BDF7E06D}" type="pres">
      <dgm:prSet presAssocID="{7638374B-7B53-4A2D-8FD3-0596196BD202}" presName="vert1" presStyleCnt="0"/>
      <dgm:spPr/>
    </dgm:pt>
    <dgm:pt modelId="{1EDB3F0F-AB4F-43D6-A2F7-7753B74AE98B}" type="pres">
      <dgm:prSet presAssocID="{449B4594-3823-4C28-9CC5-81B721BE581C}" presName="thickLine" presStyleLbl="alignNode1" presStyleIdx="2" presStyleCnt="4"/>
      <dgm:spPr/>
    </dgm:pt>
    <dgm:pt modelId="{FC454373-C785-41E8-B0CC-6C29E0EFF195}" type="pres">
      <dgm:prSet presAssocID="{449B4594-3823-4C28-9CC5-81B721BE581C}" presName="horz1" presStyleCnt="0"/>
      <dgm:spPr/>
    </dgm:pt>
    <dgm:pt modelId="{11AB8A29-4584-4EA4-B95F-BAD6B3655552}" type="pres">
      <dgm:prSet presAssocID="{449B4594-3823-4C28-9CC5-81B721BE581C}" presName="tx1" presStyleLbl="revTx" presStyleIdx="2" presStyleCnt="4"/>
      <dgm:spPr/>
    </dgm:pt>
    <dgm:pt modelId="{F09DD9CA-AA4B-46D2-B6A4-D1BCB884B4F6}" type="pres">
      <dgm:prSet presAssocID="{449B4594-3823-4C28-9CC5-81B721BE581C}" presName="vert1" presStyleCnt="0"/>
      <dgm:spPr/>
    </dgm:pt>
    <dgm:pt modelId="{FCDB1450-757E-4B70-B7C6-C8DF9B33A7D6}" type="pres">
      <dgm:prSet presAssocID="{8230A3A0-F4A2-4086-880B-0D4FEDC29DAA}" presName="thickLine" presStyleLbl="alignNode1" presStyleIdx="3" presStyleCnt="4"/>
      <dgm:spPr/>
    </dgm:pt>
    <dgm:pt modelId="{D5C27CCA-C797-49A2-B1E7-4A357FBC65AD}" type="pres">
      <dgm:prSet presAssocID="{8230A3A0-F4A2-4086-880B-0D4FEDC29DAA}" presName="horz1" presStyleCnt="0"/>
      <dgm:spPr/>
    </dgm:pt>
    <dgm:pt modelId="{37158808-EBA2-44B4-A245-67A9DB7392D5}" type="pres">
      <dgm:prSet presAssocID="{8230A3A0-F4A2-4086-880B-0D4FEDC29DAA}" presName="tx1" presStyleLbl="revTx" presStyleIdx="3" presStyleCnt="4"/>
      <dgm:spPr/>
    </dgm:pt>
    <dgm:pt modelId="{B8585376-8665-4A45-AA6D-B7B8015218A7}" type="pres">
      <dgm:prSet presAssocID="{8230A3A0-F4A2-4086-880B-0D4FEDC29DAA}" presName="vert1" presStyleCnt="0"/>
      <dgm:spPr/>
    </dgm:pt>
  </dgm:ptLst>
  <dgm:cxnLst>
    <dgm:cxn modelId="{FC32F602-03E2-4EE4-82B0-6ED139174D52}" srcId="{0DA1CA04-2E29-4B79-821A-FB88E3BEFA56}" destId="{7638374B-7B53-4A2D-8FD3-0596196BD202}" srcOrd="1" destOrd="0" parTransId="{A563F644-7F1E-4521-BD63-EA05A42B908D}" sibTransId="{4846C26E-0BCE-425A-B35C-8C0C21DC100A}"/>
    <dgm:cxn modelId="{46A4D625-5F58-4125-AE53-B9DE80BB8A3D}" srcId="{0DA1CA04-2E29-4B79-821A-FB88E3BEFA56}" destId="{8230A3A0-F4A2-4086-880B-0D4FEDC29DAA}" srcOrd="3" destOrd="0" parTransId="{B153A4DD-E9BD-4D65-BBE1-77E0DDA0ED62}" sibTransId="{6E31A449-B8A2-4C11-B12D-2CB07BAE722B}"/>
    <dgm:cxn modelId="{21CFE976-4431-43BA-B096-8B70930A6CB2}" type="presOf" srcId="{BA2E3705-ACB0-4B6E-9236-3FF873BAFD4C}" destId="{3F53E476-5B68-40DF-B7CE-EF6148AF87C5}" srcOrd="0" destOrd="0" presId="urn:microsoft.com/office/officeart/2008/layout/LinedList"/>
    <dgm:cxn modelId="{AF141B5A-1F42-4492-BC3C-4752C8F13E7D}" type="presOf" srcId="{8230A3A0-F4A2-4086-880B-0D4FEDC29DAA}" destId="{37158808-EBA2-44B4-A245-67A9DB7392D5}" srcOrd="0" destOrd="0" presId="urn:microsoft.com/office/officeart/2008/layout/LinedList"/>
    <dgm:cxn modelId="{E3F247BF-2777-4A79-9C9C-BCEE43442470}" type="presOf" srcId="{0DA1CA04-2E29-4B79-821A-FB88E3BEFA56}" destId="{6A82A84D-DD5D-44FF-A1DF-FCC40875ED69}" srcOrd="0" destOrd="0" presId="urn:microsoft.com/office/officeart/2008/layout/LinedList"/>
    <dgm:cxn modelId="{210CF9C2-067C-4539-AC9F-F2CD7051E08A}" type="presOf" srcId="{449B4594-3823-4C28-9CC5-81B721BE581C}" destId="{11AB8A29-4584-4EA4-B95F-BAD6B3655552}" srcOrd="0" destOrd="0" presId="urn:microsoft.com/office/officeart/2008/layout/LinedList"/>
    <dgm:cxn modelId="{01D91BC8-ACE5-45A0-93FF-4CE84C08D2B0}" type="presOf" srcId="{7638374B-7B53-4A2D-8FD3-0596196BD202}" destId="{A7D59AE7-6439-4FC4-8280-DF365AF7449C}" srcOrd="0" destOrd="0" presId="urn:microsoft.com/office/officeart/2008/layout/LinedList"/>
    <dgm:cxn modelId="{82D05EDA-5632-48CC-ADBB-E534FFF0588C}" srcId="{0DA1CA04-2E29-4B79-821A-FB88E3BEFA56}" destId="{BA2E3705-ACB0-4B6E-9236-3FF873BAFD4C}" srcOrd="0" destOrd="0" parTransId="{F8C3EF8E-B7AA-42DA-AA57-86BA57D3B810}" sibTransId="{4946A6FA-1EAC-429B-9B1C-1654168DD63F}"/>
    <dgm:cxn modelId="{256FF4E2-19DF-4ABD-8A9F-2535132B5581}" srcId="{0DA1CA04-2E29-4B79-821A-FB88E3BEFA56}" destId="{449B4594-3823-4C28-9CC5-81B721BE581C}" srcOrd="2" destOrd="0" parTransId="{9B7657B6-A65F-4D52-A222-449A280A729A}" sibTransId="{639523C0-7310-4DFB-94C1-3E62B212C772}"/>
    <dgm:cxn modelId="{C078A45B-7277-4701-AE59-F264E32C9EAD}" type="presParOf" srcId="{6A82A84D-DD5D-44FF-A1DF-FCC40875ED69}" destId="{046195BF-78F4-49EE-A44A-6891DEADF151}" srcOrd="0" destOrd="0" presId="urn:microsoft.com/office/officeart/2008/layout/LinedList"/>
    <dgm:cxn modelId="{72CC56B1-493B-4ADC-A659-F9A4B7385326}" type="presParOf" srcId="{6A82A84D-DD5D-44FF-A1DF-FCC40875ED69}" destId="{FC2921DE-FF69-4A23-9A4A-9EB11EDAEE66}" srcOrd="1" destOrd="0" presId="urn:microsoft.com/office/officeart/2008/layout/LinedList"/>
    <dgm:cxn modelId="{6233A846-E033-4876-887C-E6D1931ED5AC}" type="presParOf" srcId="{FC2921DE-FF69-4A23-9A4A-9EB11EDAEE66}" destId="{3F53E476-5B68-40DF-B7CE-EF6148AF87C5}" srcOrd="0" destOrd="0" presId="urn:microsoft.com/office/officeart/2008/layout/LinedList"/>
    <dgm:cxn modelId="{B304AA4A-B809-46B5-AE0D-C176163B4DD1}" type="presParOf" srcId="{FC2921DE-FF69-4A23-9A4A-9EB11EDAEE66}" destId="{898BA00A-E6CC-485B-B9FB-8EC2E381DF5F}" srcOrd="1" destOrd="0" presId="urn:microsoft.com/office/officeart/2008/layout/LinedList"/>
    <dgm:cxn modelId="{8EAA2234-485A-4379-9A63-E0AB04CAC6C9}" type="presParOf" srcId="{6A82A84D-DD5D-44FF-A1DF-FCC40875ED69}" destId="{9825ADE3-8CEA-46B9-BB4F-EDB1760E60BD}" srcOrd="2" destOrd="0" presId="urn:microsoft.com/office/officeart/2008/layout/LinedList"/>
    <dgm:cxn modelId="{401C2289-226D-48A2-8050-189CD9E761BF}" type="presParOf" srcId="{6A82A84D-DD5D-44FF-A1DF-FCC40875ED69}" destId="{9CF3D822-E069-4310-A516-7F43B1CD9A5E}" srcOrd="3" destOrd="0" presId="urn:microsoft.com/office/officeart/2008/layout/LinedList"/>
    <dgm:cxn modelId="{FFD79222-B26E-42B6-903F-2BAC4DA46FDD}" type="presParOf" srcId="{9CF3D822-E069-4310-A516-7F43B1CD9A5E}" destId="{A7D59AE7-6439-4FC4-8280-DF365AF7449C}" srcOrd="0" destOrd="0" presId="urn:microsoft.com/office/officeart/2008/layout/LinedList"/>
    <dgm:cxn modelId="{A94E59BA-3212-430D-B030-2FF9D2687B48}" type="presParOf" srcId="{9CF3D822-E069-4310-A516-7F43B1CD9A5E}" destId="{9EF7ED62-9F08-4A94-990F-F2A5BDF7E06D}" srcOrd="1" destOrd="0" presId="urn:microsoft.com/office/officeart/2008/layout/LinedList"/>
    <dgm:cxn modelId="{39C56C26-C775-488D-A11A-52628958FB66}" type="presParOf" srcId="{6A82A84D-DD5D-44FF-A1DF-FCC40875ED69}" destId="{1EDB3F0F-AB4F-43D6-A2F7-7753B74AE98B}" srcOrd="4" destOrd="0" presId="urn:microsoft.com/office/officeart/2008/layout/LinedList"/>
    <dgm:cxn modelId="{948ECDD6-5A90-4BBA-819D-D64094DEED85}" type="presParOf" srcId="{6A82A84D-DD5D-44FF-A1DF-FCC40875ED69}" destId="{FC454373-C785-41E8-B0CC-6C29E0EFF195}" srcOrd="5" destOrd="0" presId="urn:microsoft.com/office/officeart/2008/layout/LinedList"/>
    <dgm:cxn modelId="{4F021C54-49CB-411C-8180-A3E2E36C05F7}" type="presParOf" srcId="{FC454373-C785-41E8-B0CC-6C29E0EFF195}" destId="{11AB8A29-4584-4EA4-B95F-BAD6B3655552}" srcOrd="0" destOrd="0" presId="urn:microsoft.com/office/officeart/2008/layout/LinedList"/>
    <dgm:cxn modelId="{A16648AE-BD58-4CDC-ABC6-2FEFA185576C}" type="presParOf" srcId="{FC454373-C785-41E8-B0CC-6C29E0EFF195}" destId="{F09DD9CA-AA4B-46D2-B6A4-D1BCB884B4F6}" srcOrd="1" destOrd="0" presId="urn:microsoft.com/office/officeart/2008/layout/LinedList"/>
    <dgm:cxn modelId="{D2622362-F563-4890-B9CD-032A4BDFB065}" type="presParOf" srcId="{6A82A84D-DD5D-44FF-A1DF-FCC40875ED69}" destId="{FCDB1450-757E-4B70-B7C6-C8DF9B33A7D6}" srcOrd="6" destOrd="0" presId="urn:microsoft.com/office/officeart/2008/layout/LinedList"/>
    <dgm:cxn modelId="{CBADA228-1C37-4CD5-A279-7E9055C48145}" type="presParOf" srcId="{6A82A84D-DD5D-44FF-A1DF-FCC40875ED69}" destId="{D5C27CCA-C797-49A2-B1E7-4A357FBC65AD}" srcOrd="7" destOrd="0" presId="urn:microsoft.com/office/officeart/2008/layout/LinedList"/>
    <dgm:cxn modelId="{7E51B978-F220-4439-B796-0F9F222C64DE}" type="presParOf" srcId="{D5C27CCA-C797-49A2-B1E7-4A357FBC65AD}" destId="{37158808-EBA2-44B4-A245-67A9DB7392D5}" srcOrd="0" destOrd="0" presId="urn:microsoft.com/office/officeart/2008/layout/LinedList"/>
    <dgm:cxn modelId="{A12DD41F-65CD-47AD-AF22-1737B7F53D06}" type="presParOf" srcId="{D5C27CCA-C797-49A2-B1E7-4A357FBC65AD}" destId="{B8585376-8665-4A45-AA6D-B7B8015218A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6195BF-78F4-49EE-A44A-6891DEADF151}">
      <dsp:nvSpPr>
        <dsp:cNvPr id="0" name=""/>
        <dsp:cNvSpPr/>
      </dsp:nvSpPr>
      <dsp:spPr>
        <a:xfrm>
          <a:off x="0" y="0"/>
          <a:ext cx="89468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53E476-5B68-40DF-B7CE-EF6148AF87C5}">
      <dsp:nvSpPr>
        <dsp:cNvPr id="0" name=""/>
        <dsp:cNvSpPr/>
      </dsp:nvSpPr>
      <dsp:spPr>
        <a:xfrm>
          <a:off x="0" y="0"/>
          <a:ext cx="8946849" cy="1320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980" tIns="220980" rIns="220980" bIns="220980" numCol="1" spcCol="1270" anchor="t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b="1" kern="1200" dirty="0"/>
            <a:t>VEDANSHI GOYAL</a:t>
          </a:r>
          <a:endParaRPr lang="en-US" sz="5800" kern="1200" dirty="0"/>
        </a:p>
      </dsp:txBody>
      <dsp:txXfrm>
        <a:off x="0" y="0"/>
        <a:ext cx="8946849" cy="1320803"/>
      </dsp:txXfrm>
    </dsp:sp>
    <dsp:sp modelId="{9825ADE3-8CEA-46B9-BB4F-EDB1760E60BD}">
      <dsp:nvSpPr>
        <dsp:cNvPr id="0" name=""/>
        <dsp:cNvSpPr/>
      </dsp:nvSpPr>
      <dsp:spPr>
        <a:xfrm>
          <a:off x="0" y="1320803"/>
          <a:ext cx="89468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D59AE7-6439-4FC4-8280-DF365AF7449C}">
      <dsp:nvSpPr>
        <dsp:cNvPr id="0" name=""/>
        <dsp:cNvSpPr/>
      </dsp:nvSpPr>
      <dsp:spPr>
        <a:xfrm>
          <a:off x="0" y="1320803"/>
          <a:ext cx="8946849" cy="1320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980" tIns="220980" rIns="220980" bIns="220980" numCol="1" spcCol="1270" anchor="t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b="1" kern="1200"/>
            <a:t>NAVYA KHANDELWAL </a:t>
          </a:r>
          <a:endParaRPr lang="en-US" sz="5800" kern="1200"/>
        </a:p>
      </dsp:txBody>
      <dsp:txXfrm>
        <a:off x="0" y="1320803"/>
        <a:ext cx="8946849" cy="1320803"/>
      </dsp:txXfrm>
    </dsp:sp>
    <dsp:sp modelId="{1EDB3F0F-AB4F-43D6-A2F7-7753B74AE98B}">
      <dsp:nvSpPr>
        <dsp:cNvPr id="0" name=""/>
        <dsp:cNvSpPr/>
      </dsp:nvSpPr>
      <dsp:spPr>
        <a:xfrm>
          <a:off x="0" y="2641606"/>
          <a:ext cx="89468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B8A29-4584-4EA4-B95F-BAD6B3655552}">
      <dsp:nvSpPr>
        <dsp:cNvPr id="0" name=""/>
        <dsp:cNvSpPr/>
      </dsp:nvSpPr>
      <dsp:spPr>
        <a:xfrm>
          <a:off x="0" y="2641606"/>
          <a:ext cx="8946849" cy="1320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980" tIns="220980" rIns="220980" bIns="220980" numCol="1" spcCol="1270" anchor="t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b="1" kern="1200"/>
            <a:t>ANJALI BANWANI</a:t>
          </a:r>
          <a:endParaRPr lang="en-US" sz="5800" kern="1200"/>
        </a:p>
      </dsp:txBody>
      <dsp:txXfrm>
        <a:off x="0" y="2641606"/>
        <a:ext cx="8946849" cy="1320803"/>
      </dsp:txXfrm>
    </dsp:sp>
    <dsp:sp modelId="{FCDB1450-757E-4B70-B7C6-C8DF9B33A7D6}">
      <dsp:nvSpPr>
        <dsp:cNvPr id="0" name=""/>
        <dsp:cNvSpPr/>
      </dsp:nvSpPr>
      <dsp:spPr>
        <a:xfrm>
          <a:off x="0" y="3962409"/>
          <a:ext cx="89468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158808-EBA2-44B4-A245-67A9DB7392D5}">
      <dsp:nvSpPr>
        <dsp:cNvPr id="0" name=""/>
        <dsp:cNvSpPr/>
      </dsp:nvSpPr>
      <dsp:spPr>
        <a:xfrm>
          <a:off x="0" y="3962409"/>
          <a:ext cx="8946849" cy="1320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980" tIns="220980" rIns="220980" bIns="220980" numCol="1" spcCol="1270" anchor="t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b="1" kern="1200"/>
            <a:t>MRIDUL KRISHNA SHARMA</a:t>
          </a:r>
          <a:endParaRPr lang="en-US" sz="5800" kern="1200"/>
        </a:p>
      </dsp:txBody>
      <dsp:txXfrm>
        <a:off x="0" y="3962409"/>
        <a:ext cx="8946849" cy="13208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image" Target="../media/image13.sv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.jpeg"/><Relationship Id="rId5" Type="http://schemas.openxmlformats.org/officeDocument/2006/relationships/image" Target="../media/image25.sv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73775" y="0"/>
            <a:ext cx="7514225" cy="10287000"/>
          </a:xfrm>
          <a:custGeom>
            <a:avLst/>
            <a:gdLst/>
            <a:ahLst/>
            <a:cxnLst/>
            <a:rect l="l" t="t" r="r" b="b"/>
            <a:pathLst>
              <a:path w="7514225" h="10287000">
                <a:moveTo>
                  <a:pt x="0" y="0"/>
                </a:moveTo>
                <a:lnTo>
                  <a:pt x="7514225" y="0"/>
                </a:lnTo>
                <a:lnTo>
                  <a:pt x="75142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063" t="-20770" r="-16681" b="-1915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0773775" y="0"/>
            <a:ext cx="7514225" cy="10287000"/>
            <a:chOff x="0" y="0"/>
            <a:chExt cx="7514222" cy="10287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514209" cy="10287000"/>
            </a:xfrm>
            <a:custGeom>
              <a:avLst/>
              <a:gdLst/>
              <a:ahLst/>
              <a:cxnLst/>
              <a:rect l="l" t="t" r="r" b="b"/>
              <a:pathLst>
                <a:path w="7514209" h="10287000">
                  <a:moveTo>
                    <a:pt x="0" y="0"/>
                  </a:moveTo>
                  <a:lnTo>
                    <a:pt x="0" y="10287000"/>
                  </a:lnTo>
                  <a:lnTo>
                    <a:pt x="7514209" y="10287000"/>
                  </a:lnTo>
                  <a:lnTo>
                    <a:pt x="751420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0"/>
            <a:ext cx="1570555" cy="1540735"/>
          </a:xfrm>
          <a:custGeom>
            <a:avLst/>
            <a:gdLst/>
            <a:ahLst/>
            <a:cxnLst/>
            <a:rect l="l" t="t" r="r" b="b"/>
            <a:pathLst>
              <a:path w="1570555" h="1540735">
                <a:moveTo>
                  <a:pt x="0" y="0"/>
                </a:moveTo>
                <a:lnTo>
                  <a:pt x="1570555" y="0"/>
                </a:lnTo>
                <a:lnTo>
                  <a:pt x="1570555" y="1540735"/>
                </a:lnTo>
                <a:lnTo>
                  <a:pt x="0" y="15407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8975985" y="-128528"/>
            <a:ext cx="1797790" cy="1797790"/>
          </a:xfrm>
          <a:custGeom>
            <a:avLst/>
            <a:gdLst/>
            <a:ahLst/>
            <a:cxnLst/>
            <a:rect l="l" t="t" r="r" b="b"/>
            <a:pathLst>
              <a:path w="1797790" h="1797790">
                <a:moveTo>
                  <a:pt x="0" y="0"/>
                </a:moveTo>
                <a:lnTo>
                  <a:pt x="1797790" y="0"/>
                </a:lnTo>
                <a:lnTo>
                  <a:pt x="1797790" y="1797791"/>
                </a:lnTo>
                <a:lnTo>
                  <a:pt x="0" y="17977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3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28700" y="2398242"/>
            <a:ext cx="11192131" cy="1996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24"/>
              </a:lnSpc>
            </a:pPr>
            <a:r>
              <a:rPr lang="en-US" sz="1173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SPOT FLAW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8962" y="4728791"/>
            <a:ext cx="9745075" cy="232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03"/>
              </a:lnSpc>
            </a:pPr>
            <a:r>
              <a:rPr lang="en-US" sz="5099">
                <a:solidFill>
                  <a:srgbClr val="1C1C1C"/>
                </a:solidFill>
                <a:latin typeface="DM Sans"/>
                <a:ea typeface="DM Sans"/>
                <a:cs typeface="DM Sans"/>
                <a:sym typeface="DM Sans"/>
              </a:rPr>
              <a:t>AI-Driven Visual Classification for Enhanced Skin Health Monitoring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90887" y="8158474"/>
            <a:ext cx="8121225" cy="1099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Your personal AI dermatologist — accurate, instant, and always available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52048" y="303742"/>
            <a:ext cx="6262680" cy="876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8"/>
              </a:lnSpc>
              <a:spcBef>
                <a:spcPct val="0"/>
              </a:spcBef>
            </a:pPr>
            <a:r>
              <a:rPr lang="en-US" sz="252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BIRLA INSTITUTE OF TECHNOLOGY, MESRA, OFF CAMPUS JAIPUR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70268" y="2155812"/>
            <a:ext cx="7156113" cy="6897976"/>
          </a:xfrm>
          <a:custGeom>
            <a:avLst/>
            <a:gdLst/>
            <a:ahLst/>
            <a:cxnLst/>
            <a:rect l="l" t="t" r="r" b="b"/>
            <a:pathLst>
              <a:path w="7156113" h="6897976">
                <a:moveTo>
                  <a:pt x="0" y="0"/>
                </a:moveTo>
                <a:lnTo>
                  <a:pt x="7156113" y="0"/>
                </a:lnTo>
                <a:lnTo>
                  <a:pt x="7156113" y="6897977"/>
                </a:lnTo>
                <a:lnTo>
                  <a:pt x="0" y="6897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8794594" y="2352999"/>
            <a:ext cx="704850" cy="704850"/>
          </a:xfrm>
          <a:custGeom>
            <a:avLst/>
            <a:gdLst/>
            <a:ahLst/>
            <a:cxnLst/>
            <a:rect l="l" t="t" r="r" b="b"/>
            <a:pathLst>
              <a:path w="704850" h="704850">
                <a:moveTo>
                  <a:pt x="0" y="0"/>
                </a:moveTo>
                <a:lnTo>
                  <a:pt x="704850" y="0"/>
                </a:lnTo>
                <a:lnTo>
                  <a:pt x="704850" y="704850"/>
                </a:lnTo>
                <a:lnTo>
                  <a:pt x="0" y="7048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1910812" y="4660459"/>
            <a:ext cx="581025" cy="581025"/>
          </a:xfrm>
          <a:custGeom>
            <a:avLst/>
            <a:gdLst/>
            <a:ahLst/>
            <a:cxnLst/>
            <a:rect l="l" t="t" r="r" b="b"/>
            <a:pathLst>
              <a:path w="581025" h="581025">
                <a:moveTo>
                  <a:pt x="0" y="0"/>
                </a:moveTo>
                <a:lnTo>
                  <a:pt x="581025" y="0"/>
                </a:lnTo>
                <a:lnTo>
                  <a:pt x="581025" y="581025"/>
                </a:lnTo>
                <a:lnTo>
                  <a:pt x="0" y="5810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0612250" y="8158153"/>
            <a:ext cx="733425" cy="733425"/>
          </a:xfrm>
          <a:custGeom>
            <a:avLst/>
            <a:gdLst/>
            <a:ahLst/>
            <a:cxnLst/>
            <a:rect l="l" t="t" r="r" b="b"/>
            <a:pathLst>
              <a:path w="733425" h="733425">
                <a:moveTo>
                  <a:pt x="0" y="0"/>
                </a:moveTo>
                <a:lnTo>
                  <a:pt x="733425" y="0"/>
                </a:lnTo>
                <a:lnTo>
                  <a:pt x="733425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7047176" y="8222732"/>
            <a:ext cx="600075" cy="600075"/>
          </a:xfrm>
          <a:custGeom>
            <a:avLst/>
            <a:gdLst/>
            <a:ahLst/>
            <a:cxnLst/>
            <a:rect l="l" t="t" r="r" b="b"/>
            <a:pathLst>
              <a:path w="600075" h="600075">
                <a:moveTo>
                  <a:pt x="0" y="0"/>
                </a:moveTo>
                <a:lnTo>
                  <a:pt x="600075" y="0"/>
                </a:lnTo>
                <a:lnTo>
                  <a:pt x="600075" y="600075"/>
                </a:ln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5799030" y="4595660"/>
            <a:ext cx="590550" cy="590550"/>
          </a:xfrm>
          <a:custGeom>
            <a:avLst/>
            <a:gdLst/>
            <a:ahLst/>
            <a:cxnLst/>
            <a:rect l="l" t="t" r="r" b="b"/>
            <a:pathLst>
              <a:path w="590550" h="590550">
                <a:moveTo>
                  <a:pt x="0" y="0"/>
                </a:moveTo>
                <a:lnTo>
                  <a:pt x="590550" y="0"/>
                </a:lnTo>
                <a:lnTo>
                  <a:pt x="590550" y="590550"/>
                </a:lnTo>
                <a:lnTo>
                  <a:pt x="0" y="5905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5410081" y="898784"/>
            <a:ext cx="7157761" cy="6898434"/>
            <a:chOff x="0" y="0"/>
            <a:chExt cx="7157758" cy="6898424"/>
          </a:xfrm>
        </p:grpSpPr>
        <p:sp>
          <p:nvSpPr>
            <p:cNvPr id="9" name="Freeform 9"/>
            <p:cNvSpPr/>
            <p:nvPr/>
          </p:nvSpPr>
          <p:spPr>
            <a:xfrm>
              <a:off x="3107182" y="63500"/>
              <a:ext cx="935482" cy="1093724"/>
            </a:xfrm>
            <a:custGeom>
              <a:avLst/>
              <a:gdLst/>
              <a:ahLst/>
              <a:cxnLst/>
              <a:rect l="l" t="t" r="r" b="b"/>
              <a:pathLst>
                <a:path w="935482" h="1093724">
                  <a:moveTo>
                    <a:pt x="0" y="1093724"/>
                  </a:moveTo>
                  <a:lnTo>
                    <a:pt x="935482" y="1093724"/>
                  </a:lnTo>
                  <a:lnTo>
                    <a:pt x="9354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3224276" y="197231"/>
              <a:ext cx="701294" cy="701167"/>
            </a:xfrm>
            <a:custGeom>
              <a:avLst/>
              <a:gdLst/>
              <a:ahLst/>
              <a:cxnLst/>
              <a:rect l="l" t="t" r="r" b="b"/>
              <a:pathLst>
                <a:path w="701294" h="701167">
                  <a:moveTo>
                    <a:pt x="0" y="701167"/>
                  </a:moveTo>
                  <a:lnTo>
                    <a:pt x="701294" y="701167"/>
                  </a:lnTo>
                  <a:lnTo>
                    <a:pt x="70129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3540125" y="778383"/>
              <a:ext cx="1867408" cy="4333748"/>
            </a:xfrm>
            <a:custGeom>
              <a:avLst/>
              <a:gdLst/>
              <a:ahLst/>
              <a:cxnLst/>
              <a:rect l="l" t="t" r="r" b="b"/>
              <a:pathLst>
                <a:path w="1867408" h="4333748">
                  <a:moveTo>
                    <a:pt x="0" y="4333748"/>
                  </a:moveTo>
                  <a:lnTo>
                    <a:pt x="1867408" y="4333748"/>
                  </a:lnTo>
                  <a:lnTo>
                    <a:pt x="18674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685673" y="1851660"/>
              <a:ext cx="4462526" cy="1524889"/>
            </a:xfrm>
            <a:custGeom>
              <a:avLst/>
              <a:gdLst/>
              <a:ahLst/>
              <a:cxnLst/>
              <a:rect l="l" t="t" r="r" b="b"/>
              <a:pathLst>
                <a:path w="4462526" h="1524889">
                  <a:moveTo>
                    <a:pt x="0" y="1524889"/>
                  </a:moveTo>
                  <a:lnTo>
                    <a:pt x="4462526" y="1524889"/>
                  </a:lnTo>
                  <a:lnTo>
                    <a:pt x="446252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600327" y="2133473"/>
              <a:ext cx="2119249" cy="4076446"/>
            </a:xfrm>
            <a:custGeom>
              <a:avLst/>
              <a:gdLst/>
              <a:ahLst/>
              <a:cxnLst/>
              <a:rect l="l" t="t" r="r" b="b"/>
              <a:pathLst>
                <a:path w="2119249" h="4076446">
                  <a:moveTo>
                    <a:pt x="0" y="4076446"/>
                  </a:moveTo>
                  <a:lnTo>
                    <a:pt x="2119249" y="4076446"/>
                  </a:lnTo>
                  <a:lnTo>
                    <a:pt x="211924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3500" y="2269998"/>
              <a:ext cx="1053211" cy="933323"/>
            </a:xfrm>
            <a:custGeom>
              <a:avLst/>
              <a:gdLst/>
              <a:ahLst/>
              <a:cxnLst/>
              <a:rect l="l" t="t" r="r" b="b"/>
              <a:pathLst>
                <a:path w="1053211" h="933323">
                  <a:moveTo>
                    <a:pt x="0" y="933323"/>
                  </a:moveTo>
                  <a:lnTo>
                    <a:pt x="1053211" y="933323"/>
                  </a:lnTo>
                  <a:lnTo>
                    <a:pt x="10532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228727" y="2439797"/>
              <a:ext cx="593598" cy="593598"/>
            </a:xfrm>
            <a:custGeom>
              <a:avLst/>
              <a:gdLst/>
              <a:ahLst/>
              <a:cxnLst/>
              <a:rect l="l" t="t" r="r" b="b"/>
              <a:pathLst>
                <a:path w="593598" h="593598">
                  <a:moveTo>
                    <a:pt x="0" y="593598"/>
                  </a:moveTo>
                  <a:lnTo>
                    <a:pt x="593598" y="593598"/>
                  </a:lnTo>
                  <a:lnTo>
                    <a:pt x="5935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6024372" y="2341880"/>
              <a:ext cx="1069848" cy="933323"/>
            </a:xfrm>
            <a:custGeom>
              <a:avLst/>
              <a:gdLst/>
              <a:ahLst/>
              <a:cxnLst/>
              <a:rect l="l" t="t" r="r" b="b"/>
              <a:pathLst>
                <a:path w="1069848" h="933323">
                  <a:moveTo>
                    <a:pt x="0" y="933323"/>
                  </a:moveTo>
                  <a:lnTo>
                    <a:pt x="1069848" y="933323"/>
                  </a:lnTo>
                  <a:lnTo>
                    <a:pt x="10698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6340602" y="2504694"/>
              <a:ext cx="583946" cy="583819"/>
            </a:xfrm>
            <a:custGeom>
              <a:avLst/>
              <a:gdLst/>
              <a:ahLst/>
              <a:cxnLst/>
              <a:rect l="l" t="t" r="r" b="b"/>
              <a:pathLst>
                <a:path w="583946" h="583819">
                  <a:moveTo>
                    <a:pt x="0" y="583819"/>
                  </a:moveTo>
                  <a:lnTo>
                    <a:pt x="583946" y="583819"/>
                  </a:lnTo>
                  <a:lnTo>
                    <a:pt x="58394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2611755" y="2810891"/>
              <a:ext cx="3836797" cy="2723134"/>
            </a:xfrm>
            <a:custGeom>
              <a:avLst/>
              <a:gdLst/>
              <a:ahLst/>
              <a:cxnLst/>
              <a:rect l="l" t="t" r="r" b="b"/>
              <a:pathLst>
                <a:path w="3836797" h="2723134">
                  <a:moveTo>
                    <a:pt x="0" y="2723134"/>
                  </a:moveTo>
                  <a:lnTo>
                    <a:pt x="3836797" y="2723134"/>
                  </a:lnTo>
                  <a:lnTo>
                    <a:pt x="383679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904238" y="3203321"/>
              <a:ext cx="3459734" cy="3010408"/>
            </a:xfrm>
            <a:custGeom>
              <a:avLst/>
              <a:gdLst/>
              <a:ahLst/>
              <a:cxnLst/>
              <a:rect l="l" t="t" r="r" b="b"/>
              <a:pathLst>
                <a:path w="3459734" h="3010408">
                  <a:moveTo>
                    <a:pt x="0" y="3010408"/>
                  </a:moveTo>
                  <a:lnTo>
                    <a:pt x="3459734" y="3010408"/>
                  </a:lnTo>
                  <a:lnTo>
                    <a:pt x="345973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1310132" y="5833237"/>
              <a:ext cx="935482" cy="1001649"/>
            </a:xfrm>
            <a:custGeom>
              <a:avLst/>
              <a:gdLst/>
              <a:ahLst/>
              <a:cxnLst/>
              <a:rect l="l" t="t" r="r" b="b"/>
              <a:pathLst>
                <a:path w="935482" h="1001649">
                  <a:moveTo>
                    <a:pt x="0" y="1001649"/>
                  </a:moveTo>
                  <a:lnTo>
                    <a:pt x="935482" y="1001649"/>
                  </a:lnTo>
                  <a:lnTo>
                    <a:pt x="9354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1476883" y="6066917"/>
              <a:ext cx="602107" cy="602107"/>
            </a:xfrm>
            <a:custGeom>
              <a:avLst/>
              <a:gdLst/>
              <a:ahLst/>
              <a:cxnLst/>
              <a:rect l="l" t="t" r="r" b="b"/>
              <a:pathLst>
                <a:path w="602107" h="602107">
                  <a:moveTo>
                    <a:pt x="0" y="602107"/>
                  </a:moveTo>
                  <a:lnTo>
                    <a:pt x="602107" y="602107"/>
                  </a:lnTo>
                  <a:lnTo>
                    <a:pt x="6021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4945634" y="5833237"/>
              <a:ext cx="935482" cy="1001649"/>
            </a:xfrm>
            <a:custGeom>
              <a:avLst/>
              <a:gdLst/>
              <a:ahLst/>
              <a:cxnLst/>
              <a:rect l="l" t="t" r="r" b="b"/>
              <a:pathLst>
                <a:path w="935482" h="1001649">
                  <a:moveTo>
                    <a:pt x="0" y="1001649"/>
                  </a:moveTo>
                  <a:lnTo>
                    <a:pt x="935482" y="1001649"/>
                  </a:lnTo>
                  <a:lnTo>
                    <a:pt x="9354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5042027" y="6002401"/>
              <a:ext cx="731266" cy="731139"/>
            </a:xfrm>
            <a:custGeom>
              <a:avLst/>
              <a:gdLst/>
              <a:ahLst/>
              <a:cxnLst/>
              <a:rect l="l" t="t" r="r" b="b"/>
              <a:pathLst>
                <a:path w="731266" h="731139">
                  <a:moveTo>
                    <a:pt x="0" y="731139"/>
                  </a:moveTo>
                  <a:lnTo>
                    <a:pt x="731266" y="731139"/>
                  </a:lnTo>
                  <a:lnTo>
                    <a:pt x="73126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4" name="Freeform 24"/>
          <p:cNvSpPr/>
          <p:nvPr/>
        </p:nvSpPr>
        <p:spPr>
          <a:xfrm>
            <a:off x="16490210" y="-87253"/>
            <a:ext cx="1797790" cy="1797790"/>
          </a:xfrm>
          <a:custGeom>
            <a:avLst/>
            <a:gdLst/>
            <a:ahLst/>
            <a:cxnLst/>
            <a:rect l="l" t="t" r="r" b="b"/>
            <a:pathLst>
              <a:path w="1797790" h="1797790">
                <a:moveTo>
                  <a:pt x="0" y="0"/>
                </a:moveTo>
                <a:lnTo>
                  <a:pt x="1797790" y="0"/>
                </a:lnTo>
                <a:lnTo>
                  <a:pt x="1797790" y="1797790"/>
                </a:lnTo>
                <a:lnTo>
                  <a:pt x="0" y="17977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84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5" name="TextBox 25"/>
          <p:cNvSpPr txBox="1"/>
          <p:nvPr/>
        </p:nvSpPr>
        <p:spPr>
          <a:xfrm>
            <a:off x="850602" y="262928"/>
            <a:ext cx="8293398" cy="1138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1">
                <a:solidFill>
                  <a:srgbClr val="1C1C1C"/>
                </a:solidFill>
                <a:latin typeface="Inter Bold"/>
                <a:ea typeface="Inter Bold"/>
                <a:cs typeface="Inter Bold"/>
                <a:sym typeface="Inter Bold"/>
              </a:rPr>
              <a:t>Problem Statement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11954" y="4582478"/>
            <a:ext cx="4027065" cy="145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51"/>
              </a:lnSpc>
            </a:pPr>
            <a:r>
              <a:rPr lang="en-US" sz="2400">
                <a:solidFill>
                  <a:srgbClr val="1C1C1C"/>
                </a:solidFill>
                <a:latin typeface="Catamaran"/>
                <a:ea typeface="Catamaran"/>
                <a:cs typeface="Catamaran"/>
                <a:sym typeface="Catamaran"/>
              </a:rPr>
              <a:t>Modern lifestyle elements, such as increased stress, high- glycemic diets and environmental pollution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409711" y="8603028"/>
            <a:ext cx="4161692" cy="1089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51"/>
              </a:lnSpc>
            </a:pPr>
            <a:r>
              <a:rPr lang="en-US" sz="2400">
                <a:solidFill>
                  <a:srgbClr val="1C1C1C"/>
                </a:solidFill>
                <a:latin typeface="Catamaran"/>
                <a:ea typeface="Catamaran"/>
                <a:cs typeface="Catamaran"/>
                <a:sym typeface="Catamaran"/>
              </a:rPr>
              <a:t>Around 87% of individuals resort to self-diagnosis and over-the- counter treatments.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044141" y="2508866"/>
            <a:ext cx="5047402" cy="1089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400">
                <a:solidFill>
                  <a:srgbClr val="1C1C1C"/>
                </a:solidFill>
                <a:latin typeface="Catamaran"/>
                <a:ea typeface="Catamaran"/>
                <a:cs typeface="Catamaran"/>
                <a:sym typeface="Catamaran"/>
              </a:rPr>
              <a:t>Acne affects over 200 million Indians, particularly teenagers and young adults aged 18-25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613070" y="8646738"/>
            <a:ext cx="5038392" cy="1089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400">
                <a:solidFill>
                  <a:srgbClr val="1C1C1C"/>
                </a:solidFill>
                <a:latin typeface="Catamaran"/>
                <a:ea typeface="Catamaran"/>
                <a:cs typeface="Catamaran"/>
                <a:sym typeface="Catamaran"/>
              </a:rPr>
              <a:t>With only 6,600 dermatologists serving 1.4 billion people, access to professional skin care is severely limited.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755709" y="5062966"/>
            <a:ext cx="4648524" cy="1089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400">
                <a:solidFill>
                  <a:srgbClr val="1C1C1C"/>
                </a:solidFill>
                <a:latin typeface="Catamaran"/>
                <a:ea typeface="Catamaran"/>
                <a:cs typeface="Catamaran"/>
                <a:sym typeface="Catamaran"/>
              </a:rPr>
              <a:t>Acne can lead to scarring, infections, and significant mental health challenges.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21453" y="4068280"/>
            <a:ext cx="3264351" cy="511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1">
                <a:solidFill>
                  <a:srgbClr val="1C1C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Lifestyle Factors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769022" y="7986817"/>
            <a:ext cx="3802380" cy="511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1">
                <a:solidFill>
                  <a:srgbClr val="1C1C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Self-Diagnosis Risk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044141" y="1934813"/>
            <a:ext cx="3541119" cy="511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1">
                <a:solidFill>
                  <a:srgbClr val="1C1C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Widespread Issue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613070" y="8052225"/>
            <a:ext cx="2955169" cy="511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1">
                <a:solidFill>
                  <a:srgbClr val="1C1C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Limited Access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755709" y="4493562"/>
            <a:ext cx="2897772" cy="511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1">
                <a:solidFill>
                  <a:srgbClr val="1C1C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Health Impact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50602" y="1363189"/>
            <a:ext cx="7856868" cy="656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Spotflaw delivers dermatology-level diagnosis in seconds — no appointments, no guessing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D9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38270" y="0"/>
            <a:ext cx="17011650" cy="10287000"/>
          </a:xfrm>
          <a:custGeom>
            <a:avLst/>
            <a:gdLst/>
            <a:ahLst/>
            <a:cxnLst/>
            <a:rect l="l" t="t" r="r" b="b"/>
            <a:pathLst>
              <a:path w="17011650" h="10287000">
                <a:moveTo>
                  <a:pt x="0" y="0"/>
                </a:moveTo>
                <a:lnTo>
                  <a:pt x="17011650" y="0"/>
                </a:lnTo>
                <a:lnTo>
                  <a:pt x="170116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201" t="-9041" r="-24982" b="-1123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638270" y="0"/>
            <a:ext cx="17011450" cy="10287000"/>
            <a:chOff x="0" y="0"/>
            <a:chExt cx="17011447" cy="10287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011396" cy="10287000"/>
            </a:xfrm>
            <a:custGeom>
              <a:avLst/>
              <a:gdLst/>
              <a:ahLst/>
              <a:cxnLst/>
              <a:rect l="l" t="t" r="r" b="b"/>
              <a:pathLst>
                <a:path w="17011396" h="10287000">
                  <a:moveTo>
                    <a:pt x="0" y="0"/>
                  </a:moveTo>
                  <a:lnTo>
                    <a:pt x="0" y="10287000"/>
                  </a:lnTo>
                  <a:lnTo>
                    <a:pt x="17011396" y="10287000"/>
                  </a:lnTo>
                  <a:lnTo>
                    <a:pt x="1701139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Freeform 5"/>
          <p:cNvSpPr/>
          <p:nvPr/>
        </p:nvSpPr>
        <p:spPr>
          <a:xfrm>
            <a:off x="16490210" y="0"/>
            <a:ext cx="1797790" cy="1797790"/>
          </a:xfrm>
          <a:custGeom>
            <a:avLst/>
            <a:gdLst/>
            <a:ahLst/>
            <a:cxnLst/>
            <a:rect l="l" t="t" r="r" b="b"/>
            <a:pathLst>
              <a:path w="1797790" h="1797790">
                <a:moveTo>
                  <a:pt x="0" y="0"/>
                </a:moveTo>
                <a:lnTo>
                  <a:pt x="1797790" y="0"/>
                </a:lnTo>
                <a:lnTo>
                  <a:pt x="1797790" y="1797790"/>
                </a:lnTo>
                <a:lnTo>
                  <a:pt x="0" y="17977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3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5834" y="2593953"/>
            <a:ext cx="15991389" cy="3240129"/>
          </a:xfrm>
          <a:custGeom>
            <a:avLst/>
            <a:gdLst/>
            <a:ahLst/>
            <a:cxnLst/>
            <a:rect l="l" t="t" r="r" b="b"/>
            <a:pathLst>
              <a:path w="15991389" h="3240129">
                <a:moveTo>
                  <a:pt x="0" y="0"/>
                </a:moveTo>
                <a:lnTo>
                  <a:pt x="15991389" y="0"/>
                </a:lnTo>
                <a:lnTo>
                  <a:pt x="15991389" y="3240129"/>
                </a:lnTo>
                <a:lnTo>
                  <a:pt x="0" y="32401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048304" y="3394081"/>
            <a:ext cx="1409700" cy="1409700"/>
          </a:xfrm>
          <a:custGeom>
            <a:avLst/>
            <a:gdLst/>
            <a:ahLst/>
            <a:cxnLst/>
            <a:rect l="l" t="t" r="r" b="b"/>
            <a:pathLst>
              <a:path w="1409700" h="1409700">
                <a:moveTo>
                  <a:pt x="0" y="0"/>
                </a:moveTo>
                <a:lnTo>
                  <a:pt x="1409700" y="0"/>
                </a:lnTo>
                <a:lnTo>
                  <a:pt x="140970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5851703" y="3369421"/>
            <a:ext cx="1438275" cy="1438275"/>
          </a:xfrm>
          <a:custGeom>
            <a:avLst/>
            <a:gdLst/>
            <a:ahLst/>
            <a:cxnLst/>
            <a:rect l="l" t="t" r="r" b="b"/>
            <a:pathLst>
              <a:path w="1438275" h="1438275">
                <a:moveTo>
                  <a:pt x="0" y="0"/>
                </a:moveTo>
                <a:lnTo>
                  <a:pt x="1438275" y="0"/>
                </a:lnTo>
                <a:lnTo>
                  <a:pt x="1438275" y="1438275"/>
                </a:lnTo>
                <a:lnTo>
                  <a:pt x="0" y="14382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723196" y="3404264"/>
            <a:ext cx="1428750" cy="1428750"/>
          </a:xfrm>
          <a:custGeom>
            <a:avLst/>
            <a:gdLst/>
            <a:ahLst/>
            <a:cxnLst/>
            <a:rect l="l" t="t" r="r" b="b"/>
            <a:pathLst>
              <a:path w="1428750" h="1428750">
                <a:moveTo>
                  <a:pt x="0" y="0"/>
                </a:moveTo>
                <a:lnTo>
                  <a:pt x="1428750" y="0"/>
                </a:lnTo>
                <a:lnTo>
                  <a:pt x="1428750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4223149" y="3394081"/>
            <a:ext cx="1343025" cy="1343025"/>
          </a:xfrm>
          <a:custGeom>
            <a:avLst/>
            <a:gdLst/>
            <a:ahLst/>
            <a:cxnLst/>
            <a:rect l="l" t="t" r="r" b="b"/>
            <a:pathLst>
              <a:path w="1343025" h="1343025">
                <a:moveTo>
                  <a:pt x="0" y="0"/>
                </a:moveTo>
                <a:lnTo>
                  <a:pt x="1343025" y="0"/>
                </a:lnTo>
                <a:lnTo>
                  <a:pt x="1343025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655834" y="2593953"/>
            <a:ext cx="15991332" cy="3240129"/>
            <a:chOff x="0" y="0"/>
            <a:chExt cx="15991332" cy="3240126"/>
          </a:xfrm>
        </p:grpSpPr>
        <p:sp>
          <p:nvSpPr>
            <p:cNvPr id="8" name="Freeform 8"/>
            <p:cNvSpPr/>
            <p:nvPr/>
          </p:nvSpPr>
          <p:spPr>
            <a:xfrm>
              <a:off x="4215892" y="63500"/>
              <a:ext cx="3112008" cy="2049145"/>
            </a:xfrm>
            <a:custGeom>
              <a:avLst/>
              <a:gdLst/>
              <a:ahLst/>
              <a:cxnLst/>
              <a:rect l="l" t="t" r="r" b="b"/>
              <a:pathLst>
                <a:path w="3112008" h="2049145">
                  <a:moveTo>
                    <a:pt x="0" y="2049145"/>
                  </a:moveTo>
                  <a:lnTo>
                    <a:pt x="3112008" y="2049145"/>
                  </a:lnTo>
                  <a:lnTo>
                    <a:pt x="31120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12551537" y="63500"/>
              <a:ext cx="3112008" cy="2049145"/>
            </a:xfrm>
            <a:custGeom>
              <a:avLst/>
              <a:gdLst/>
              <a:ahLst/>
              <a:cxnLst/>
              <a:rect l="l" t="t" r="r" b="b"/>
              <a:pathLst>
                <a:path w="3112008" h="2049145">
                  <a:moveTo>
                    <a:pt x="0" y="2049145"/>
                  </a:moveTo>
                  <a:lnTo>
                    <a:pt x="3112008" y="2049145"/>
                  </a:lnTo>
                  <a:lnTo>
                    <a:pt x="31120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3500" y="63500"/>
              <a:ext cx="3112008" cy="2049145"/>
            </a:xfrm>
            <a:custGeom>
              <a:avLst/>
              <a:gdLst/>
              <a:ahLst/>
              <a:cxnLst/>
              <a:rect l="l" t="t" r="r" b="b"/>
              <a:pathLst>
                <a:path w="3112008" h="2049145">
                  <a:moveTo>
                    <a:pt x="0" y="2049145"/>
                  </a:moveTo>
                  <a:lnTo>
                    <a:pt x="3112008" y="2049145"/>
                  </a:lnTo>
                  <a:lnTo>
                    <a:pt x="31120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8390763" y="64262"/>
              <a:ext cx="3112008" cy="2048383"/>
            </a:xfrm>
            <a:custGeom>
              <a:avLst/>
              <a:gdLst/>
              <a:ahLst/>
              <a:cxnLst/>
              <a:rect l="l" t="t" r="r" b="b"/>
              <a:pathLst>
                <a:path w="3112008" h="2048383">
                  <a:moveTo>
                    <a:pt x="0" y="2048383"/>
                  </a:moveTo>
                  <a:lnTo>
                    <a:pt x="3112008" y="2048383"/>
                  </a:lnTo>
                  <a:lnTo>
                    <a:pt x="31120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982726" y="748538"/>
              <a:ext cx="1527683" cy="1528953"/>
            </a:xfrm>
            <a:custGeom>
              <a:avLst/>
              <a:gdLst/>
              <a:ahLst/>
              <a:cxnLst/>
              <a:rect l="l" t="t" r="r" b="b"/>
              <a:pathLst>
                <a:path w="1527683" h="1528953">
                  <a:moveTo>
                    <a:pt x="0" y="1528953"/>
                  </a:moveTo>
                  <a:lnTo>
                    <a:pt x="1527683" y="1528953"/>
                  </a:lnTo>
                  <a:lnTo>
                    <a:pt x="15276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067308" y="810260"/>
              <a:ext cx="1424559" cy="1424559"/>
            </a:xfrm>
            <a:custGeom>
              <a:avLst/>
              <a:gdLst/>
              <a:ahLst/>
              <a:cxnLst/>
              <a:rect l="l" t="t" r="r" b="b"/>
              <a:pathLst>
                <a:path w="1424559" h="1424559">
                  <a:moveTo>
                    <a:pt x="0" y="1424559"/>
                  </a:moveTo>
                  <a:lnTo>
                    <a:pt x="1424559" y="1424559"/>
                  </a:lnTo>
                  <a:lnTo>
                    <a:pt x="14245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5135118" y="748538"/>
              <a:ext cx="1527683" cy="1528953"/>
            </a:xfrm>
            <a:custGeom>
              <a:avLst/>
              <a:gdLst/>
              <a:ahLst/>
              <a:cxnLst/>
              <a:rect l="l" t="t" r="r" b="b"/>
              <a:pathLst>
                <a:path w="1527683" h="1528953">
                  <a:moveTo>
                    <a:pt x="0" y="1528953"/>
                  </a:moveTo>
                  <a:lnTo>
                    <a:pt x="1527683" y="1528953"/>
                  </a:lnTo>
                  <a:lnTo>
                    <a:pt x="15276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5195824" y="775462"/>
              <a:ext cx="1438910" cy="1438783"/>
            </a:xfrm>
            <a:custGeom>
              <a:avLst/>
              <a:gdLst/>
              <a:ahLst/>
              <a:cxnLst/>
              <a:rect l="l" t="t" r="r" b="b"/>
              <a:pathLst>
                <a:path w="1438910" h="1438783">
                  <a:moveTo>
                    <a:pt x="0" y="1438783"/>
                  </a:moveTo>
                  <a:lnTo>
                    <a:pt x="1438910" y="1438783"/>
                  </a:lnTo>
                  <a:lnTo>
                    <a:pt x="14389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9309862" y="748538"/>
              <a:ext cx="1527683" cy="1528953"/>
            </a:xfrm>
            <a:custGeom>
              <a:avLst/>
              <a:gdLst/>
              <a:ahLst/>
              <a:cxnLst/>
              <a:rect l="l" t="t" r="r" b="b"/>
              <a:pathLst>
                <a:path w="1527683" h="1528953">
                  <a:moveTo>
                    <a:pt x="0" y="1528953"/>
                  </a:moveTo>
                  <a:lnTo>
                    <a:pt x="1527683" y="1528953"/>
                  </a:lnTo>
                  <a:lnTo>
                    <a:pt x="15276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9392539" y="800100"/>
              <a:ext cx="1414145" cy="1414145"/>
            </a:xfrm>
            <a:custGeom>
              <a:avLst/>
              <a:gdLst/>
              <a:ahLst/>
              <a:cxnLst/>
              <a:rect l="l" t="t" r="r" b="b"/>
              <a:pathLst>
                <a:path w="1414145" h="1414145">
                  <a:moveTo>
                    <a:pt x="0" y="1414145"/>
                  </a:moveTo>
                  <a:lnTo>
                    <a:pt x="1414145" y="1414145"/>
                  </a:lnTo>
                  <a:lnTo>
                    <a:pt x="141414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3470637" y="748538"/>
              <a:ext cx="1527683" cy="1528953"/>
            </a:xfrm>
            <a:custGeom>
              <a:avLst/>
              <a:gdLst/>
              <a:ahLst/>
              <a:cxnLst/>
              <a:rect l="l" t="t" r="r" b="b"/>
              <a:pathLst>
                <a:path w="1527683" h="1528953">
                  <a:moveTo>
                    <a:pt x="0" y="1528953"/>
                  </a:moveTo>
                  <a:lnTo>
                    <a:pt x="1527683" y="1528953"/>
                  </a:lnTo>
                  <a:lnTo>
                    <a:pt x="15276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3567283" y="800100"/>
              <a:ext cx="1346454" cy="1346581"/>
            </a:xfrm>
            <a:custGeom>
              <a:avLst/>
              <a:gdLst/>
              <a:ahLst/>
              <a:cxnLst/>
              <a:rect l="l" t="t" r="r" b="b"/>
              <a:pathLst>
                <a:path w="1346454" h="1346581">
                  <a:moveTo>
                    <a:pt x="0" y="1346581"/>
                  </a:moveTo>
                  <a:lnTo>
                    <a:pt x="1346455" y="1346581"/>
                  </a:lnTo>
                  <a:lnTo>
                    <a:pt x="13464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372872" y="927354"/>
              <a:ext cx="3112008" cy="2049272"/>
            </a:xfrm>
            <a:custGeom>
              <a:avLst/>
              <a:gdLst/>
              <a:ahLst/>
              <a:cxnLst/>
              <a:rect l="l" t="t" r="r" b="b"/>
              <a:pathLst>
                <a:path w="3112008" h="2049272">
                  <a:moveTo>
                    <a:pt x="0" y="2049272"/>
                  </a:moveTo>
                  <a:lnTo>
                    <a:pt x="3112008" y="2049272"/>
                  </a:lnTo>
                  <a:lnTo>
                    <a:pt x="31120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4480179" y="927354"/>
              <a:ext cx="3112135" cy="2049272"/>
            </a:xfrm>
            <a:custGeom>
              <a:avLst/>
              <a:gdLst/>
              <a:ahLst/>
              <a:cxnLst/>
              <a:rect l="l" t="t" r="r" b="b"/>
              <a:pathLst>
                <a:path w="3112135" h="2049272">
                  <a:moveTo>
                    <a:pt x="0" y="2049272"/>
                  </a:moveTo>
                  <a:lnTo>
                    <a:pt x="3112135" y="2049272"/>
                  </a:lnTo>
                  <a:lnTo>
                    <a:pt x="31121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8655050" y="927354"/>
              <a:ext cx="3112008" cy="2048383"/>
            </a:xfrm>
            <a:custGeom>
              <a:avLst/>
              <a:gdLst/>
              <a:ahLst/>
              <a:cxnLst/>
              <a:rect l="l" t="t" r="r" b="b"/>
              <a:pathLst>
                <a:path w="3112008" h="2048383">
                  <a:moveTo>
                    <a:pt x="0" y="2048383"/>
                  </a:moveTo>
                  <a:lnTo>
                    <a:pt x="3112008" y="2048383"/>
                  </a:lnTo>
                  <a:lnTo>
                    <a:pt x="31120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12815824" y="927354"/>
              <a:ext cx="3112008" cy="2049272"/>
            </a:xfrm>
            <a:custGeom>
              <a:avLst/>
              <a:gdLst/>
              <a:ahLst/>
              <a:cxnLst/>
              <a:rect l="l" t="t" r="r" b="b"/>
              <a:pathLst>
                <a:path w="3112008" h="2049272">
                  <a:moveTo>
                    <a:pt x="0" y="2049272"/>
                  </a:moveTo>
                  <a:lnTo>
                    <a:pt x="3112008" y="2049272"/>
                  </a:lnTo>
                  <a:lnTo>
                    <a:pt x="31120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1746377" y="2180082"/>
              <a:ext cx="621411" cy="996569"/>
            </a:xfrm>
            <a:custGeom>
              <a:avLst/>
              <a:gdLst/>
              <a:ahLst/>
              <a:cxnLst/>
              <a:rect l="l" t="t" r="r" b="b"/>
              <a:pathLst>
                <a:path w="621411" h="996569">
                  <a:moveTo>
                    <a:pt x="0" y="996569"/>
                  </a:moveTo>
                  <a:lnTo>
                    <a:pt x="621411" y="996569"/>
                  </a:lnTo>
                  <a:lnTo>
                    <a:pt x="6214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5898769" y="2180082"/>
              <a:ext cx="621411" cy="996569"/>
            </a:xfrm>
            <a:custGeom>
              <a:avLst/>
              <a:gdLst/>
              <a:ahLst/>
              <a:cxnLst/>
              <a:rect l="l" t="t" r="r" b="b"/>
              <a:pathLst>
                <a:path w="621411" h="996569">
                  <a:moveTo>
                    <a:pt x="0" y="996569"/>
                  </a:moveTo>
                  <a:lnTo>
                    <a:pt x="621411" y="996569"/>
                  </a:lnTo>
                  <a:lnTo>
                    <a:pt x="6214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0242931" y="2180082"/>
              <a:ext cx="621411" cy="996569"/>
            </a:xfrm>
            <a:custGeom>
              <a:avLst/>
              <a:gdLst/>
              <a:ahLst/>
              <a:cxnLst/>
              <a:rect l="l" t="t" r="r" b="b"/>
              <a:pathLst>
                <a:path w="621411" h="996569">
                  <a:moveTo>
                    <a:pt x="0" y="996569"/>
                  </a:moveTo>
                  <a:lnTo>
                    <a:pt x="621411" y="996569"/>
                  </a:lnTo>
                  <a:lnTo>
                    <a:pt x="6214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14234288" y="2180082"/>
              <a:ext cx="621412" cy="996569"/>
            </a:xfrm>
            <a:custGeom>
              <a:avLst/>
              <a:gdLst/>
              <a:ahLst/>
              <a:cxnLst/>
              <a:rect l="l" t="t" r="r" b="b"/>
              <a:pathLst>
                <a:path w="621412" h="996569">
                  <a:moveTo>
                    <a:pt x="0" y="996569"/>
                  </a:moveTo>
                  <a:lnTo>
                    <a:pt x="621411" y="996569"/>
                  </a:lnTo>
                  <a:lnTo>
                    <a:pt x="6214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1746377" y="2500376"/>
              <a:ext cx="4155440" cy="475742"/>
            </a:xfrm>
            <a:custGeom>
              <a:avLst/>
              <a:gdLst/>
              <a:ahLst/>
              <a:cxnLst/>
              <a:rect l="l" t="t" r="r" b="b"/>
              <a:pathLst>
                <a:path w="4155440" h="475742">
                  <a:moveTo>
                    <a:pt x="0" y="475742"/>
                  </a:moveTo>
                  <a:lnTo>
                    <a:pt x="4155440" y="475742"/>
                  </a:lnTo>
                  <a:lnTo>
                    <a:pt x="41554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5901817" y="2500376"/>
              <a:ext cx="4349115" cy="475742"/>
            </a:xfrm>
            <a:custGeom>
              <a:avLst/>
              <a:gdLst/>
              <a:ahLst/>
              <a:cxnLst/>
              <a:rect l="l" t="t" r="r" b="b"/>
              <a:pathLst>
                <a:path w="4349115" h="475742">
                  <a:moveTo>
                    <a:pt x="0" y="475742"/>
                  </a:moveTo>
                  <a:lnTo>
                    <a:pt x="4349115" y="475742"/>
                  </a:lnTo>
                  <a:lnTo>
                    <a:pt x="434911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10250932" y="2500376"/>
              <a:ext cx="3989579" cy="475742"/>
            </a:xfrm>
            <a:custGeom>
              <a:avLst/>
              <a:gdLst/>
              <a:ahLst/>
              <a:cxnLst/>
              <a:rect l="l" t="t" r="r" b="b"/>
              <a:pathLst>
                <a:path w="3989579" h="475742">
                  <a:moveTo>
                    <a:pt x="0" y="475742"/>
                  </a:moveTo>
                  <a:lnTo>
                    <a:pt x="3989579" y="475742"/>
                  </a:lnTo>
                  <a:lnTo>
                    <a:pt x="39895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888406" y="93516"/>
            <a:ext cx="9159897" cy="1137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1">
                <a:solidFill>
                  <a:srgbClr val="1C1C1C"/>
                </a:solidFill>
                <a:latin typeface="Inter Bold"/>
                <a:ea typeface="Inter Bold"/>
                <a:cs typeface="Inter Bold"/>
                <a:sym typeface="Inter Bold"/>
              </a:rPr>
              <a:t>Solution And Working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78713" y="6809927"/>
            <a:ext cx="3155985" cy="1309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0"/>
              </a:lnSpc>
            </a:pPr>
            <a:r>
              <a:rPr lang="en-US" sz="2915">
                <a:solidFill>
                  <a:srgbClr val="1C1C1C"/>
                </a:solidFill>
                <a:latin typeface="Catamaran"/>
                <a:ea typeface="Catamaran"/>
                <a:cs typeface="Catamaran"/>
                <a:sym typeface="Catamaran"/>
              </a:rPr>
              <a:t>User uploads a clear facial image for analysis.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076053" y="6809927"/>
            <a:ext cx="3049495" cy="1309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0"/>
              </a:lnSpc>
            </a:pPr>
            <a:r>
              <a:rPr lang="en-US" sz="2915">
                <a:solidFill>
                  <a:srgbClr val="1C1C1C"/>
                </a:solidFill>
                <a:latin typeface="Catamaran"/>
                <a:ea typeface="Catamaran"/>
                <a:cs typeface="Catamaran"/>
                <a:sym typeface="Catamaran"/>
              </a:rPr>
              <a:t>Advanced AI scans the image to detect acne patterns.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200940" y="6773761"/>
            <a:ext cx="3536823" cy="1711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8"/>
              </a:lnSpc>
            </a:pPr>
            <a:r>
              <a:rPr lang="en-US" sz="2915">
                <a:solidFill>
                  <a:srgbClr val="1C1C1C"/>
                </a:solidFill>
                <a:latin typeface="Catamaran"/>
                <a:ea typeface="Catamaran"/>
                <a:cs typeface="Catamaran"/>
                <a:sym typeface="Catamaran"/>
              </a:rPr>
              <a:t>ML model (CNN) categorizes acne types and identifies possible causes.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581440" y="6852523"/>
            <a:ext cx="2932424" cy="1747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3"/>
              </a:lnSpc>
            </a:pPr>
            <a:r>
              <a:rPr lang="en-US" sz="2915">
                <a:solidFill>
                  <a:srgbClr val="1C1C1C"/>
                </a:solidFill>
                <a:latin typeface="Catamaran"/>
                <a:ea typeface="Catamaran"/>
                <a:cs typeface="Catamaran"/>
                <a:sym typeface="Catamaran"/>
              </a:rPr>
              <a:t> A website offering possible cause and skincare recommendations.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78713" y="6120222"/>
            <a:ext cx="3251016" cy="511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1">
                <a:solidFill>
                  <a:srgbClr val="1C1C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Face Image Scan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313131" y="6120222"/>
            <a:ext cx="2920460" cy="511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1">
                <a:solidFill>
                  <a:srgbClr val="1C1C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Image Analysis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150048" y="6077121"/>
            <a:ext cx="3949370" cy="511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1">
                <a:solidFill>
                  <a:srgbClr val="1C1C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Image Classification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970260" y="5819946"/>
            <a:ext cx="2684412" cy="919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6"/>
              </a:lnSpc>
            </a:pPr>
            <a:r>
              <a:rPr lang="en-US" sz="3099" b="1">
                <a:solidFill>
                  <a:srgbClr val="1C1C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User-Friendly Platform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0" y="1434436"/>
            <a:ext cx="17707916" cy="105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Spotflaw uniquely combines AI and medical insight to not only detect acne, but reveal the root cause — instantlyxt</a:t>
            </a:r>
          </a:p>
        </p:txBody>
      </p:sp>
      <p:sp>
        <p:nvSpPr>
          <p:cNvPr id="41" name="Freeform 41"/>
          <p:cNvSpPr/>
          <p:nvPr/>
        </p:nvSpPr>
        <p:spPr>
          <a:xfrm>
            <a:off x="16647166" y="-170061"/>
            <a:ext cx="1797790" cy="1797790"/>
          </a:xfrm>
          <a:custGeom>
            <a:avLst/>
            <a:gdLst/>
            <a:ahLst/>
            <a:cxnLst/>
            <a:rect l="l" t="t" r="r" b="b"/>
            <a:pathLst>
              <a:path w="1797790" h="1797790">
                <a:moveTo>
                  <a:pt x="0" y="0"/>
                </a:moveTo>
                <a:lnTo>
                  <a:pt x="1797791" y="0"/>
                </a:lnTo>
                <a:lnTo>
                  <a:pt x="1797791" y="1797790"/>
                </a:lnTo>
                <a:lnTo>
                  <a:pt x="0" y="17977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3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3978" y="-63503"/>
            <a:ext cx="18430999" cy="10421807"/>
          </a:xfrm>
          <a:custGeom>
            <a:avLst/>
            <a:gdLst/>
            <a:ahLst/>
            <a:cxnLst/>
            <a:rect l="l" t="t" r="r" b="b"/>
            <a:pathLst>
              <a:path w="18430999" h="10421807">
                <a:moveTo>
                  <a:pt x="0" y="0"/>
                </a:moveTo>
                <a:lnTo>
                  <a:pt x="18430999" y="0"/>
                </a:lnTo>
                <a:lnTo>
                  <a:pt x="18430999" y="10421807"/>
                </a:lnTo>
                <a:lnTo>
                  <a:pt x="0" y="104218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2871130" y="1156068"/>
            <a:ext cx="12133459" cy="722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4099" b="1">
                <a:solidFill>
                  <a:srgbClr val="1C1C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PREPARATION &amp; MODEL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58622" y="3064840"/>
            <a:ext cx="4524708" cy="732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4"/>
              </a:lnSpc>
            </a:pPr>
            <a:r>
              <a:rPr lang="en-US" sz="416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Preparation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41057" y="3064840"/>
            <a:ext cx="5142538" cy="732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4"/>
              </a:lnSpc>
            </a:pPr>
            <a:r>
              <a:rPr lang="en-US" sz="416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Architecture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85579" y="4010482"/>
            <a:ext cx="6557124" cy="4107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9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Dataset Composition: 2,346 images Annotation Classes: Class 0 - Acne: Bumpy, white/brown cysts, NOT RED Class 1 - Pimple: Bumpy, red/white cysts, MUST BE RED Class 2 - Spots: Flat, small, dark brown spots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03089" y="4010149"/>
            <a:ext cx="7063854" cy="4622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9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 Selection: Computer Vision, Convolutional Neural Network (CNN) Layers Overview: Conv2D: Feature extraction MaxPooling2D: Down-sampling Flatten: Converts 2D matrix to a vector Dense: Fully connected layers for classification Dropout: Prevents overfitting</a:t>
            </a:r>
          </a:p>
        </p:txBody>
      </p:sp>
      <p:sp>
        <p:nvSpPr>
          <p:cNvPr id="8" name="Freeform 8"/>
          <p:cNvSpPr/>
          <p:nvPr/>
        </p:nvSpPr>
        <p:spPr>
          <a:xfrm>
            <a:off x="16579230" y="-242610"/>
            <a:ext cx="1797790" cy="1797790"/>
          </a:xfrm>
          <a:custGeom>
            <a:avLst/>
            <a:gdLst/>
            <a:ahLst/>
            <a:cxnLst/>
            <a:rect l="l" t="t" r="r" b="b"/>
            <a:pathLst>
              <a:path w="1797790" h="1797790">
                <a:moveTo>
                  <a:pt x="0" y="0"/>
                </a:moveTo>
                <a:lnTo>
                  <a:pt x="1797791" y="0"/>
                </a:lnTo>
                <a:lnTo>
                  <a:pt x="1797791" y="1797790"/>
                </a:lnTo>
                <a:lnTo>
                  <a:pt x="0" y="1797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3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70160"/>
            <a:ext cx="5772150" cy="8953500"/>
          </a:xfrm>
          <a:custGeom>
            <a:avLst/>
            <a:gdLst/>
            <a:ahLst/>
            <a:cxnLst/>
            <a:rect l="l" t="t" r="r" b="b"/>
            <a:pathLst>
              <a:path w="5772150" h="8953500">
                <a:moveTo>
                  <a:pt x="0" y="0"/>
                </a:moveTo>
                <a:lnTo>
                  <a:pt x="5772150" y="0"/>
                </a:lnTo>
                <a:lnTo>
                  <a:pt x="5772150" y="8953500"/>
                </a:lnTo>
                <a:lnTo>
                  <a:pt x="0" y="895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879" t="-10661" r="-8" b="-6040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63503" y="-63503"/>
            <a:ext cx="18414997" cy="10413997"/>
            <a:chOff x="0" y="0"/>
            <a:chExt cx="18415000" cy="10414000"/>
          </a:xfrm>
        </p:grpSpPr>
        <p:sp>
          <p:nvSpPr>
            <p:cNvPr id="4" name="Freeform 4"/>
            <p:cNvSpPr/>
            <p:nvPr/>
          </p:nvSpPr>
          <p:spPr>
            <a:xfrm>
              <a:off x="6433312" y="3066669"/>
              <a:ext cx="10291318" cy="1119124"/>
            </a:xfrm>
            <a:custGeom>
              <a:avLst/>
              <a:gdLst/>
              <a:ahLst/>
              <a:cxnLst/>
              <a:rect l="l" t="t" r="r" b="b"/>
              <a:pathLst>
                <a:path w="10291318" h="1119124">
                  <a:moveTo>
                    <a:pt x="0" y="0"/>
                  </a:moveTo>
                  <a:lnTo>
                    <a:pt x="0" y="1119124"/>
                  </a:lnTo>
                  <a:lnTo>
                    <a:pt x="10291318" y="1119124"/>
                  </a:lnTo>
                  <a:lnTo>
                    <a:pt x="102913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6426200" y="3068955"/>
              <a:ext cx="10305669" cy="1114425"/>
            </a:xfrm>
            <a:custGeom>
              <a:avLst/>
              <a:gdLst/>
              <a:ahLst/>
              <a:cxnLst/>
              <a:rect l="l" t="t" r="r" b="b"/>
              <a:pathLst>
                <a:path w="10305669" h="1114425">
                  <a:moveTo>
                    <a:pt x="9525" y="9525"/>
                  </a:moveTo>
                  <a:lnTo>
                    <a:pt x="9525" y="1104900"/>
                  </a:lnTo>
                  <a:moveTo>
                    <a:pt x="10296144" y="9525"/>
                  </a:moveTo>
                  <a:lnTo>
                    <a:pt x="10296144" y="1104900"/>
                  </a:lnTo>
                  <a:moveTo>
                    <a:pt x="0" y="0"/>
                  </a:moveTo>
                  <a:lnTo>
                    <a:pt x="10305669" y="0"/>
                  </a:lnTo>
                  <a:moveTo>
                    <a:pt x="0" y="1114425"/>
                  </a:moveTo>
                  <a:lnTo>
                    <a:pt x="10305669" y="1114425"/>
                  </a:lnTo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6426200" y="3059430"/>
              <a:ext cx="10305669" cy="1133475"/>
            </a:xfrm>
            <a:custGeom>
              <a:avLst/>
              <a:gdLst/>
              <a:ahLst/>
              <a:cxnLst/>
              <a:rect l="l" t="t" r="r" b="b"/>
              <a:pathLst>
                <a:path w="10305669" h="1133475">
                  <a:moveTo>
                    <a:pt x="19050" y="19050"/>
                  </a:moveTo>
                  <a:lnTo>
                    <a:pt x="19050" y="1114425"/>
                  </a:lnTo>
                  <a:lnTo>
                    <a:pt x="0" y="1114425"/>
                  </a:lnTo>
                  <a:lnTo>
                    <a:pt x="0" y="19050"/>
                  </a:lnTo>
                  <a:close/>
                  <a:moveTo>
                    <a:pt x="10305669" y="19050"/>
                  </a:moveTo>
                  <a:lnTo>
                    <a:pt x="10305669" y="1114425"/>
                  </a:lnTo>
                  <a:lnTo>
                    <a:pt x="10286619" y="1114425"/>
                  </a:lnTo>
                  <a:lnTo>
                    <a:pt x="10286619" y="19050"/>
                  </a:lnTo>
                  <a:close/>
                  <a:moveTo>
                    <a:pt x="0" y="0"/>
                  </a:moveTo>
                  <a:lnTo>
                    <a:pt x="10305669" y="0"/>
                  </a:lnTo>
                  <a:lnTo>
                    <a:pt x="10305669" y="19050"/>
                  </a:lnTo>
                  <a:lnTo>
                    <a:pt x="0" y="19050"/>
                  </a:lnTo>
                  <a:close/>
                  <a:moveTo>
                    <a:pt x="0" y="1114425"/>
                  </a:moveTo>
                  <a:lnTo>
                    <a:pt x="10305669" y="1114425"/>
                  </a:lnTo>
                  <a:lnTo>
                    <a:pt x="10305669" y="1133475"/>
                  </a:lnTo>
                  <a:lnTo>
                    <a:pt x="0" y="1133475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6426200" y="1544955"/>
              <a:ext cx="10305669" cy="1504950"/>
            </a:xfrm>
            <a:custGeom>
              <a:avLst/>
              <a:gdLst/>
              <a:ahLst/>
              <a:cxnLst/>
              <a:rect l="l" t="t" r="r" b="b"/>
              <a:pathLst>
                <a:path w="10305669" h="1504950">
                  <a:moveTo>
                    <a:pt x="9525" y="9525"/>
                  </a:moveTo>
                  <a:lnTo>
                    <a:pt x="9525" y="1495425"/>
                  </a:lnTo>
                  <a:moveTo>
                    <a:pt x="10296144" y="9525"/>
                  </a:moveTo>
                  <a:lnTo>
                    <a:pt x="10296144" y="1495425"/>
                  </a:lnTo>
                  <a:moveTo>
                    <a:pt x="0" y="0"/>
                  </a:moveTo>
                  <a:lnTo>
                    <a:pt x="10305669" y="0"/>
                  </a:lnTo>
                  <a:moveTo>
                    <a:pt x="0" y="1504950"/>
                  </a:moveTo>
                  <a:lnTo>
                    <a:pt x="10305669" y="1504950"/>
                  </a:lnTo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6426200" y="1535430"/>
              <a:ext cx="10305669" cy="1524000"/>
            </a:xfrm>
            <a:custGeom>
              <a:avLst/>
              <a:gdLst/>
              <a:ahLst/>
              <a:cxnLst/>
              <a:rect l="l" t="t" r="r" b="b"/>
              <a:pathLst>
                <a:path w="10305669" h="1524000">
                  <a:moveTo>
                    <a:pt x="19050" y="19050"/>
                  </a:moveTo>
                  <a:lnTo>
                    <a:pt x="19050" y="1504950"/>
                  </a:lnTo>
                  <a:lnTo>
                    <a:pt x="0" y="1504950"/>
                  </a:lnTo>
                  <a:lnTo>
                    <a:pt x="0" y="19050"/>
                  </a:lnTo>
                  <a:close/>
                  <a:moveTo>
                    <a:pt x="10305669" y="19050"/>
                  </a:moveTo>
                  <a:lnTo>
                    <a:pt x="10305669" y="1504950"/>
                  </a:lnTo>
                  <a:lnTo>
                    <a:pt x="10286619" y="1504950"/>
                  </a:lnTo>
                  <a:lnTo>
                    <a:pt x="10286619" y="19050"/>
                  </a:lnTo>
                  <a:close/>
                  <a:moveTo>
                    <a:pt x="0" y="0"/>
                  </a:moveTo>
                  <a:lnTo>
                    <a:pt x="10305669" y="0"/>
                  </a:lnTo>
                  <a:lnTo>
                    <a:pt x="10305669" y="19050"/>
                  </a:lnTo>
                  <a:lnTo>
                    <a:pt x="0" y="19050"/>
                  </a:lnTo>
                  <a:close/>
                  <a:moveTo>
                    <a:pt x="0" y="1504950"/>
                  </a:moveTo>
                  <a:lnTo>
                    <a:pt x="10305669" y="1504950"/>
                  </a:lnTo>
                  <a:lnTo>
                    <a:pt x="10305669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6433312" y="6407785"/>
              <a:ext cx="10291318" cy="1642999"/>
            </a:xfrm>
            <a:custGeom>
              <a:avLst/>
              <a:gdLst/>
              <a:ahLst/>
              <a:cxnLst/>
              <a:rect l="l" t="t" r="r" b="b"/>
              <a:pathLst>
                <a:path w="10291318" h="1642999">
                  <a:moveTo>
                    <a:pt x="0" y="0"/>
                  </a:moveTo>
                  <a:lnTo>
                    <a:pt x="0" y="1642999"/>
                  </a:lnTo>
                  <a:lnTo>
                    <a:pt x="10291318" y="1642999"/>
                  </a:lnTo>
                  <a:lnTo>
                    <a:pt x="102913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426200" y="6410071"/>
              <a:ext cx="10305669" cy="1638300"/>
            </a:xfrm>
            <a:custGeom>
              <a:avLst/>
              <a:gdLst/>
              <a:ahLst/>
              <a:cxnLst/>
              <a:rect l="l" t="t" r="r" b="b"/>
              <a:pathLst>
                <a:path w="10305669" h="1638300">
                  <a:moveTo>
                    <a:pt x="9525" y="9525"/>
                  </a:moveTo>
                  <a:lnTo>
                    <a:pt x="9525" y="1628775"/>
                  </a:lnTo>
                  <a:moveTo>
                    <a:pt x="10296144" y="9525"/>
                  </a:moveTo>
                  <a:lnTo>
                    <a:pt x="10296144" y="1628775"/>
                  </a:lnTo>
                  <a:moveTo>
                    <a:pt x="0" y="0"/>
                  </a:moveTo>
                  <a:lnTo>
                    <a:pt x="10305669" y="0"/>
                  </a:lnTo>
                  <a:moveTo>
                    <a:pt x="0" y="1638300"/>
                  </a:moveTo>
                  <a:lnTo>
                    <a:pt x="10305669" y="1638300"/>
                  </a:lnTo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6426200" y="6400546"/>
              <a:ext cx="10305669" cy="1657350"/>
            </a:xfrm>
            <a:custGeom>
              <a:avLst/>
              <a:gdLst/>
              <a:ahLst/>
              <a:cxnLst/>
              <a:rect l="l" t="t" r="r" b="b"/>
              <a:pathLst>
                <a:path w="10305669" h="1657350">
                  <a:moveTo>
                    <a:pt x="10286492" y="19050"/>
                  </a:moveTo>
                  <a:lnTo>
                    <a:pt x="10286492" y="1638300"/>
                  </a:lnTo>
                  <a:lnTo>
                    <a:pt x="19050" y="1638300"/>
                  </a:lnTo>
                  <a:lnTo>
                    <a:pt x="19050" y="19050"/>
                  </a:lnTo>
                  <a:close/>
                  <a:moveTo>
                    <a:pt x="0" y="0"/>
                  </a:moveTo>
                  <a:lnTo>
                    <a:pt x="0" y="1657350"/>
                  </a:lnTo>
                  <a:lnTo>
                    <a:pt x="10305669" y="1657350"/>
                  </a:lnTo>
                  <a:lnTo>
                    <a:pt x="10305669" y="1638300"/>
                  </a:lnTo>
                  <a:lnTo>
                    <a:pt x="10305669" y="19050"/>
                  </a:lnTo>
                  <a:lnTo>
                    <a:pt x="10305669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6433312" y="4426585"/>
              <a:ext cx="10291318" cy="1738249"/>
            </a:xfrm>
            <a:custGeom>
              <a:avLst/>
              <a:gdLst/>
              <a:ahLst/>
              <a:cxnLst/>
              <a:rect l="l" t="t" r="r" b="b"/>
              <a:pathLst>
                <a:path w="10291318" h="1738249">
                  <a:moveTo>
                    <a:pt x="0" y="0"/>
                  </a:moveTo>
                  <a:lnTo>
                    <a:pt x="0" y="1738249"/>
                  </a:lnTo>
                  <a:lnTo>
                    <a:pt x="10291318" y="1738249"/>
                  </a:lnTo>
                  <a:lnTo>
                    <a:pt x="102913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6426200" y="4428871"/>
              <a:ext cx="10305669" cy="1733550"/>
            </a:xfrm>
            <a:custGeom>
              <a:avLst/>
              <a:gdLst/>
              <a:ahLst/>
              <a:cxnLst/>
              <a:rect l="l" t="t" r="r" b="b"/>
              <a:pathLst>
                <a:path w="10305669" h="1733550">
                  <a:moveTo>
                    <a:pt x="9525" y="9525"/>
                  </a:moveTo>
                  <a:lnTo>
                    <a:pt x="9525" y="1724025"/>
                  </a:lnTo>
                  <a:moveTo>
                    <a:pt x="10296144" y="9525"/>
                  </a:moveTo>
                  <a:lnTo>
                    <a:pt x="10296144" y="1724025"/>
                  </a:lnTo>
                  <a:moveTo>
                    <a:pt x="0" y="0"/>
                  </a:moveTo>
                  <a:lnTo>
                    <a:pt x="10305669" y="0"/>
                  </a:lnTo>
                  <a:moveTo>
                    <a:pt x="0" y="1733550"/>
                  </a:moveTo>
                  <a:lnTo>
                    <a:pt x="10305669" y="1733550"/>
                  </a:lnTo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426200" y="4419346"/>
              <a:ext cx="10305669" cy="1752600"/>
            </a:xfrm>
            <a:custGeom>
              <a:avLst/>
              <a:gdLst/>
              <a:ahLst/>
              <a:cxnLst/>
              <a:rect l="l" t="t" r="r" b="b"/>
              <a:pathLst>
                <a:path w="10305669" h="1752600">
                  <a:moveTo>
                    <a:pt x="19050" y="19050"/>
                  </a:moveTo>
                  <a:lnTo>
                    <a:pt x="19050" y="1733550"/>
                  </a:lnTo>
                  <a:lnTo>
                    <a:pt x="0" y="1733550"/>
                  </a:lnTo>
                  <a:lnTo>
                    <a:pt x="0" y="19050"/>
                  </a:lnTo>
                  <a:close/>
                  <a:moveTo>
                    <a:pt x="10305669" y="19050"/>
                  </a:moveTo>
                  <a:lnTo>
                    <a:pt x="10305669" y="1733550"/>
                  </a:lnTo>
                  <a:lnTo>
                    <a:pt x="10286619" y="1733550"/>
                  </a:lnTo>
                  <a:lnTo>
                    <a:pt x="10286619" y="19050"/>
                  </a:lnTo>
                  <a:close/>
                  <a:moveTo>
                    <a:pt x="0" y="0"/>
                  </a:moveTo>
                  <a:lnTo>
                    <a:pt x="10305669" y="0"/>
                  </a:lnTo>
                  <a:lnTo>
                    <a:pt x="10305669" y="19050"/>
                  </a:lnTo>
                  <a:lnTo>
                    <a:pt x="0" y="19050"/>
                  </a:lnTo>
                  <a:close/>
                  <a:moveTo>
                    <a:pt x="0" y="1733550"/>
                  </a:moveTo>
                  <a:lnTo>
                    <a:pt x="10305669" y="1733550"/>
                  </a:lnTo>
                  <a:lnTo>
                    <a:pt x="10305669" y="1752600"/>
                  </a:lnTo>
                  <a:lnTo>
                    <a:pt x="0" y="175260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092200" y="733679"/>
              <a:ext cx="5769864" cy="8955659"/>
            </a:xfrm>
            <a:custGeom>
              <a:avLst/>
              <a:gdLst/>
              <a:ahLst/>
              <a:cxnLst/>
              <a:rect l="l" t="t" r="r" b="b"/>
              <a:pathLst>
                <a:path w="5769864" h="8955659">
                  <a:moveTo>
                    <a:pt x="0" y="8955659"/>
                  </a:moveTo>
                  <a:lnTo>
                    <a:pt x="5769864" y="8955659"/>
                  </a:lnTo>
                  <a:lnTo>
                    <a:pt x="57698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473104" y="3117580"/>
            <a:ext cx="3149460" cy="596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1C1C1C"/>
                </a:solidFill>
                <a:latin typeface="Catamaran"/>
                <a:ea typeface="Catamaran"/>
                <a:cs typeface="Catamaran"/>
                <a:sym typeface="Catamaran"/>
              </a:rPr>
              <a:t>1.Click on the link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73104" y="6525377"/>
            <a:ext cx="9751133" cy="1057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499">
                <a:solidFill>
                  <a:srgbClr val="1C1C1C"/>
                </a:solidFill>
                <a:latin typeface="Catamaran"/>
                <a:ea typeface="Catamaran"/>
                <a:cs typeface="Catamaran"/>
                <a:sym typeface="Catamaran"/>
              </a:rPr>
              <a:t>3.The image will be detected by the model and you'll get the necessary information about it.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73104" y="4477502"/>
            <a:ext cx="10156365" cy="1200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3499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2.Upload an image of yourself in a well lit environment. Avoid wearing bindi or any piercing.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05084" y="1627613"/>
            <a:ext cx="7977168" cy="927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1">
                <a:solidFill>
                  <a:srgbClr val="1C1C1C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USER INTERFACE PREVIEW</a:t>
            </a:r>
          </a:p>
        </p:txBody>
      </p:sp>
      <p:sp>
        <p:nvSpPr>
          <p:cNvPr id="21" name="Freeform 21"/>
          <p:cNvSpPr/>
          <p:nvPr/>
        </p:nvSpPr>
        <p:spPr>
          <a:xfrm>
            <a:off x="16629469" y="-228735"/>
            <a:ext cx="1797790" cy="1797790"/>
          </a:xfrm>
          <a:custGeom>
            <a:avLst/>
            <a:gdLst/>
            <a:ahLst/>
            <a:cxnLst/>
            <a:rect l="l" t="t" r="r" b="b"/>
            <a:pathLst>
              <a:path w="1797790" h="1797790">
                <a:moveTo>
                  <a:pt x="0" y="0"/>
                </a:moveTo>
                <a:lnTo>
                  <a:pt x="1797790" y="0"/>
                </a:lnTo>
                <a:lnTo>
                  <a:pt x="1797790" y="1797790"/>
                </a:lnTo>
                <a:lnTo>
                  <a:pt x="0" y="17977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3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434322"/>
            <a:ext cx="18288000" cy="7324725"/>
          </a:xfrm>
          <a:custGeom>
            <a:avLst/>
            <a:gdLst/>
            <a:ahLst/>
            <a:cxnLst/>
            <a:rect l="l" t="t" r="r" b="b"/>
            <a:pathLst>
              <a:path w="18288000" h="7324725">
                <a:moveTo>
                  <a:pt x="0" y="0"/>
                </a:moveTo>
                <a:lnTo>
                  <a:pt x="18288000" y="0"/>
                </a:lnTo>
                <a:lnTo>
                  <a:pt x="18288000" y="7324725"/>
                </a:lnTo>
                <a:lnTo>
                  <a:pt x="0" y="7324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73" r="-680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1434322"/>
            <a:ext cx="18288000" cy="7321058"/>
            <a:chOff x="0" y="0"/>
            <a:chExt cx="18288000" cy="732105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288000" cy="7321042"/>
            </a:xfrm>
            <a:custGeom>
              <a:avLst/>
              <a:gdLst/>
              <a:ahLst/>
              <a:cxnLst/>
              <a:rect l="l" t="t" r="r" b="b"/>
              <a:pathLst>
                <a:path w="18288000" h="7321042">
                  <a:moveTo>
                    <a:pt x="0" y="7321042"/>
                  </a:moveTo>
                  <a:lnTo>
                    <a:pt x="18288000" y="7321042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Freeform 5"/>
          <p:cNvSpPr/>
          <p:nvPr/>
        </p:nvSpPr>
        <p:spPr>
          <a:xfrm>
            <a:off x="16490210" y="-363468"/>
            <a:ext cx="1797790" cy="1797790"/>
          </a:xfrm>
          <a:custGeom>
            <a:avLst/>
            <a:gdLst/>
            <a:ahLst/>
            <a:cxnLst/>
            <a:rect l="l" t="t" r="r" b="b"/>
            <a:pathLst>
              <a:path w="1797790" h="1797790">
                <a:moveTo>
                  <a:pt x="0" y="0"/>
                </a:moveTo>
                <a:lnTo>
                  <a:pt x="1797790" y="0"/>
                </a:lnTo>
                <a:lnTo>
                  <a:pt x="1797790" y="1797790"/>
                </a:lnTo>
                <a:lnTo>
                  <a:pt x="0" y="17977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3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36445" y="2930223"/>
            <a:ext cx="1847221" cy="1431684"/>
          </a:xfrm>
          <a:custGeom>
            <a:avLst/>
            <a:gdLst/>
            <a:ahLst/>
            <a:cxnLst/>
            <a:rect l="l" t="t" r="r" b="b"/>
            <a:pathLst>
              <a:path w="1847221" h="1431684">
                <a:moveTo>
                  <a:pt x="0" y="0"/>
                </a:moveTo>
                <a:lnTo>
                  <a:pt x="1847221" y="0"/>
                </a:lnTo>
                <a:lnTo>
                  <a:pt x="1847221" y="1431684"/>
                </a:lnTo>
                <a:lnTo>
                  <a:pt x="0" y="1431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2036445" y="4668803"/>
            <a:ext cx="1847221" cy="1431684"/>
          </a:xfrm>
          <a:custGeom>
            <a:avLst/>
            <a:gdLst/>
            <a:ahLst/>
            <a:cxnLst/>
            <a:rect l="l" t="t" r="r" b="b"/>
            <a:pathLst>
              <a:path w="1847221" h="1431684">
                <a:moveTo>
                  <a:pt x="0" y="0"/>
                </a:moveTo>
                <a:lnTo>
                  <a:pt x="1847221" y="0"/>
                </a:lnTo>
                <a:lnTo>
                  <a:pt x="1847221" y="1431683"/>
                </a:lnTo>
                <a:lnTo>
                  <a:pt x="0" y="14316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2036445" y="6407429"/>
            <a:ext cx="1847221" cy="1431684"/>
          </a:xfrm>
          <a:custGeom>
            <a:avLst/>
            <a:gdLst/>
            <a:ahLst/>
            <a:cxnLst/>
            <a:rect l="l" t="t" r="r" b="b"/>
            <a:pathLst>
              <a:path w="1847221" h="1431684">
                <a:moveTo>
                  <a:pt x="0" y="0"/>
                </a:moveTo>
                <a:lnTo>
                  <a:pt x="1847221" y="0"/>
                </a:lnTo>
                <a:lnTo>
                  <a:pt x="1847221" y="1431684"/>
                </a:lnTo>
                <a:lnTo>
                  <a:pt x="0" y="1431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2036445" y="8145961"/>
            <a:ext cx="1847221" cy="1431684"/>
          </a:xfrm>
          <a:custGeom>
            <a:avLst/>
            <a:gdLst/>
            <a:ahLst/>
            <a:cxnLst/>
            <a:rect l="l" t="t" r="r" b="b"/>
            <a:pathLst>
              <a:path w="1847221" h="1431684">
                <a:moveTo>
                  <a:pt x="0" y="0"/>
                </a:moveTo>
                <a:lnTo>
                  <a:pt x="1847221" y="0"/>
                </a:lnTo>
                <a:lnTo>
                  <a:pt x="1847221" y="1431684"/>
                </a:lnTo>
                <a:lnTo>
                  <a:pt x="0" y="14316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9493129" y="1026509"/>
            <a:ext cx="8794871" cy="9260491"/>
          </a:xfrm>
          <a:custGeom>
            <a:avLst/>
            <a:gdLst/>
            <a:ahLst/>
            <a:cxnLst/>
            <a:rect l="l" t="t" r="r" b="b"/>
            <a:pathLst>
              <a:path w="8794871" h="9260491">
                <a:moveTo>
                  <a:pt x="0" y="0"/>
                </a:moveTo>
                <a:lnTo>
                  <a:pt x="8794871" y="0"/>
                </a:lnTo>
                <a:lnTo>
                  <a:pt x="8794871" y="9260491"/>
                </a:lnTo>
                <a:lnTo>
                  <a:pt x="0" y="92604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0000"/>
            </a:blip>
            <a:stretch>
              <a:fillRect l="-8532" t="-1965" r="-27061" b="-1107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2034340" y="2930223"/>
            <a:ext cx="1851736" cy="1431684"/>
            <a:chOff x="0" y="0"/>
            <a:chExt cx="1851736" cy="1431684"/>
          </a:xfrm>
        </p:grpSpPr>
        <p:sp>
          <p:nvSpPr>
            <p:cNvPr id="8" name="Freeform 8"/>
            <p:cNvSpPr/>
            <p:nvPr/>
          </p:nvSpPr>
          <p:spPr>
            <a:xfrm>
              <a:off x="68326" y="63500"/>
              <a:ext cx="1719961" cy="1304671"/>
            </a:xfrm>
            <a:custGeom>
              <a:avLst/>
              <a:gdLst/>
              <a:ahLst/>
              <a:cxnLst/>
              <a:rect l="l" t="t" r="r" b="b"/>
              <a:pathLst>
                <a:path w="1719961" h="1304671">
                  <a:moveTo>
                    <a:pt x="0" y="1304671"/>
                  </a:moveTo>
                  <a:lnTo>
                    <a:pt x="1719961" y="1304671"/>
                  </a:lnTo>
                  <a:lnTo>
                    <a:pt x="1719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63500" y="682625"/>
              <a:ext cx="19177" cy="48514"/>
            </a:xfrm>
            <a:custGeom>
              <a:avLst/>
              <a:gdLst/>
              <a:ahLst/>
              <a:cxnLst/>
              <a:rect l="l" t="t" r="r" b="b"/>
              <a:pathLst>
                <a:path w="19177" h="48514">
                  <a:moveTo>
                    <a:pt x="0" y="48514"/>
                  </a:moveTo>
                  <a:lnTo>
                    <a:pt x="19177" y="48514"/>
                  </a:lnTo>
                  <a:lnTo>
                    <a:pt x="191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2034245" y="4668803"/>
            <a:ext cx="1851831" cy="1431684"/>
            <a:chOff x="0" y="0"/>
            <a:chExt cx="1851825" cy="1431684"/>
          </a:xfrm>
        </p:grpSpPr>
        <p:sp>
          <p:nvSpPr>
            <p:cNvPr id="11" name="Freeform 11"/>
            <p:cNvSpPr/>
            <p:nvPr/>
          </p:nvSpPr>
          <p:spPr>
            <a:xfrm>
              <a:off x="68453" y="63500"/>
              <a:ext cx="1719834" cy="1304671"/>
            </a:xfrm>
            <a:custGeom>
              <a:avLst/>
              <a:gdLst/>
              <a:ahLst/>
              <a:cxnLst/>
              <a:rect l="l" t="t" r="r" b="b"/>
              <a:pathLst>
                <a:path w="1719834" h="1304671">
                  <a:moveTo>
                    <a:pt x="0" y="1304671"/>
                  </a:moveTo>
                  <a:lnTo>
                    <a:pt x="1719834" y="1304671"/>
                  </a:lnTo>
                  <a:lnTo>
                    <a:pt x="171983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63500" y="597408"/>
              <a:ext cx="19431" cy="133096"/>
            </a:xfrm>
            <a:custGeom>
              <a:avLst/>
              <a:gdLst/>
              <a:ahLst/>
              <a:cxnLst/>
              <a:rect l="l" t="t" r="r" b="b"/>
              <a:pathLst>
                <a:path w="19431" h="133096">
                  <a:moveTo>
                    <a:pt x="0" y="133096"/>
                  </a:moveTo>
                  <a:lnTo>
                    <a:pt x="19431" y="133096"/>
                  </a:lnTo>
                  <a:lnTo>
                    <a:pt x="194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2034235" y="6407429"/>
            <a:ext cx="1851841" cy="1431684"/>
            <a:chOff x="0" y="0"/>
            <a:chExt cx="1851838" cy="1431684"/>
          </a:xfrm>
        </p:grpSpPr>
        <p:sp>
          <p:nvSpPr>
            <p:cNvPr id="14" name="Freeform 14"/>
            <p:cNvSpPr/>
            <p:nvPr/>
          </p:nvSpPr>
          <p:spPr>
            <a:xfrm>
              <a:off x="68453" y="63500"/>
              <a:ext cx="1719834" cy="1304671"/>
            </a:xfrm>
            <a:custGeom>
              <a:avLst/>
              <a:gdLst/>
              <a:ahLst/>
              <a:cxnLst/>
              <a:rect l="l" t="t" r="r" b="b"/>
              <a:pathLst>
                <a:path w="1719834" h="1304671">
                  <a:moveTo>
                    <a:pt x="0" y="1304671"/>
                  </a:moveTo>
                  <a:lnTo>
                    <a:pt x="1719834" y="1304671"/>
                  </a:lnTo>
                  <a:lnTo>
                    <a:pt x="171983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63500" y="511810"/>
              <a:ext cx="19431" cy="218440"/>
            </a:xfrm>
            <a:custGeom>
              <a:avLst/>
              <a:gdLst/>
              <a:ahLst/>
              <a:cxnLst/>
              <a:rect l="l" t="t" r="r" b="b"/>
              <a:pathLst>
                <a:path w="19431" h="218440">
                  <a:moveTo>
                    <a:pt x="0" y="218440"/>
                  </a:moveTo>
                  <a:lnTo>
                    <a:pt x="19431" y="218440"/>
                  </a:lnTo>
                  <a:lnTo>
                    <a:pt x="194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2034235" y="8145961"/>
            <a:ext cx="1851841" cy="1431684"/>
            <a:chOff x="0" y="0"/>
            <a:chExt cx="1851838" cy="1431684"/>
          </a:xfrm>
        </p:grpSpPr>
        <p:sp>
          <p:nvSpPr>
            <p:cNvPr id="17" name="Freeform 17"/>
            <p:cNvSpPr/>
            <p:nvPr/>
          </p:nvSpPr>
          <p:spPr>
            <a:xfrm>
              <a:off x="68453" y="63500"/>
              <a:ext cx="1719834" cy="1304671"/>
            </a:xfrm>
            <a:custGeom>
              <a:avLst/>
              <a:gdLst/>
              <a:ahLst/>
              <a:cxnLst/>
              <a:rect l="l" t="t" r="r" b="b"/>
              <a:pathLst>
                <a:path w="1719834" h="1304671">
                  <a:moveTo>
                    <a:pt x="0" y="1304671"/>
                  </a:moveTo>
                  <a:lnTo>
                    <a:pt x="1719834" y="1304671"/>
                  </a:lnTo>
                  <a:lnTo>
                    <a:pt x="171983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63500" y="426085"/>
              <a:ext cx="19431" cy="304165"/>
            </a:xfrm>
            <a:custGeom>
              <a:avLst/>
              <a:gdLst/>
              <a:ahLst/>
              <a:cxnLst/>
              <a:rect l="l" t="t" r="r" b="b"/>
              <a:pathLst>
                <a:path w="19431" h="304165">
                  <a:moveTo>
                    <a:pt x="0" y="304165"/>
                  </a:moveTo>
                  <a:lnTo>
                    <a:pt x="19431" y="304165"/>
                  </a:lnTo>
                  <a:lnTo>
                    <a:pt x="194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9493129" y="1026509"/>
            <a:ext cx="8794871" cy="9260491"/>
            <a:chOff x="0" y="0"/>
            <a:chExt cx="8794864" cy="926049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794877" cy="9260459"/>
            </a:xfrm>
            <a:custGeom>
              <a:avLst/>
              <a:gdLst/>
              <a:ahLst/>
              <a:cxnLst/>
              <a:rect l="l" t="t" r="r" b="b"/>
              <a:pathLst>
                <a:path w="8794877" h="9260459">
                  <a:moveTo>
                    <a:pt x="0" y="0"/>
                  </a:moveTo>
                  <a:lnTo>
                    <a:pt x="0" y="9260459"/>
                  </a:lnTo>
                  <a:lnTo>
                    <a:pt x="8794877" y="9260459"/>
                  </a:lnTo>
                  <a:lnTo>
                    <a:pt x="879487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818028" y="3033655"/>
            <a:ext cx="294770" cy="1321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4799" b="1">
                <a:solidFill>
                  <a:srgbClr val="1C1C1C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770546" y="4772235"/>
            <a:ext cx="391697" cy="1321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4799" b="1">
                <a:solidFill>
                  <a:srgbClr val="1C1C1C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761488" y="6510861"/>
            <a:ext cx="410023" cy="1321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47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755849" y="8249393"/>
            <a:ext cx="421510" cy="1321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4799" b="1">
                <a:solidFill>
                  <a:srgbClr val="1C1C1C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060708" y="2970200"/>
            <a:ext cx="4968650" cy="6596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5"/>
              </a:lnSpc>
            </a:pPr>
            <a:r>
              <a:rPr lang="en-US" sz="2691" b="1">
                <a:solidFill>
                  <a:srgbClr val="1C1C1C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Feature Extraction : </a:t>
            </a:r>
            <a:r>
              <a:rPr lang="en-US" sz="2691">
                <a:solidFill>
                  <a:srgbClr val="1C1C1C"/>
                </a:solidFill>
                <a:latin typeface="Catamaran"/>
                <a:ea typeface="Catamaran"/>
                <a:cs typeface="Catamaran"/>
                <a:sym typeface="Catamaran"/>
              </a:rPr>
              <a:t>Automatically learns important features (edges, textures, colors).</a:t>
            </a:r>
          </a:p>
          <a:p>
            <a:pPr algn="l">
              <a:lnSpc>
                <a:spcPts val="3215"/>
              </a:lnSpc>
            </a:pPr>
            <a:endParaRPr lang="en-US" sz="2691">
              <a:solidFill>
                <a:srgbClr val="1C1C1C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algn="l">
              <a:lnSpc>
                <a:spcPts val="3215"/>
              </a:lnSpc>
            </a:pPr>
            <a:endParaRPr lang="en-US" sz="2691">
              <a:solidFill>
                <a:srgbClr val="1C1C1C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algn="l">
              <a:lnSpc>
                <a:spcPts val="3065"/>
              </a:lnSpc>
            </a:pPr>
            <a:r>
              <a:rPr lang="en-US" sz="2591" b="1">
                <a:solidFill>
                  <a:srgbClr val="1C1C1C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Spatial Hierarchy:</a:t>
            </a:r>
            <a:r>
              <a:rPr lang="en-US" sz="2591">
                <a:solidFill>
                  <a:srgbClr val="1C1C1C"/>
                </a:solidFill>
                <a:latin typeface="Catamaran"/>
                <a:ea typeface="Catamaran"/>
                <a:cs typeface="Catamaran"/>
                <a:sym typeface="Catamaran"/>
              </a:rPr>
              <a:t> Captures relationships between pixels in an image.</a:t>
            </a:r>
          </a:p>
          <a:p>
            <a:pPr algn="l">
              <a:lnSpc>
                <a:spcPts val="3066"/>
              </a:lnSpc>
            </a:pPr>
            <a:endParaRPr lang="en-US" sz="2591">
              <a:solidFill>
                <a:srgbClr val="1C1C1C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algn="l">
              <a:lnSpc>
                <a:spcPts val="6479"/>
              </a:lnSpc>
            </a:pPr>
            <a:r>
              <a:rPr lang="en-US" sz="2591" b="1">
                <a:solidFill>
                  <a:srgbClr val="1C1C1C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Efficiency:</a:t>
            </a:r>
            <a:r>
              <a:rPr lang="en-US" sz="2591">
                <a:solidFill>
                  <a:srgbClr val="1C1C1C"/>
                </a:solidFill>
                <a:latin typeface="Catamaran"/>
                <a:ea typeface="Catamaran"/>
                <a:cs typeface="Catamaran"/>
                <a:sym typeface="Catamaran"/>
              </a:rPr>
              <a:t> Reduces manual feature</a:t>
            </a:r>
          </a:p>
          <a:p>
            <a:pPr algn="l">
              <a:lnSpc>
                <a:spcPts val="1295"/>
              </a:lnSpc>
            </a:pPr>
            <a:r>
              <a:rPr lang="en-US" sz="2591">
                <a:solidFill>
                  <a:srgbClr val="1C1C1C"/>
                </a:solidFill>
                <a:latin typeface="Catamaran"/>
                <a:ea typeface="Catamaran"/>
                <a:cs typeface="Catamaran"/>
                <a:sym typeface="Catamaran"/>
              </a:rPr>
              <a:t>engineering, improving</a:t>
            </a:r>
          </a:p>
          <a:p>
            <a:pPr algn="l">
              <a:lnSpc>
                <a:spcPts val="4836"/>
              </a:lnSpc>
            </a:pPr>
            <a:r>
              <a:rPr lang="en-US" sz="2591">
                <a:solidFill>
                  <a:srgbClr val="1C1C1C"/>
                </a:solidFill>
                <a:latin typeface="Catamaran"/>
                <a:ea typeface="Catamaran"/>
                <a:cs typeface="Catamaran"/>
                <a:sym typeface="Catamaran"/>
              </a:rPr>
              <a:t>performance.</a:t>
            </a:r>
          </a:p>
          <a:p>
            <a:pPr algn="l">
              <a:lnSpc>
                <a:spcPts val="6479"/>
              </a:lnSpc>
            </a:pPr>
            <a:r>
              <a:rPr lang="en-US" sz="2591" b="1">
                <a:solidFill>
                  <a:srgbClr val="1C1C1C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Real-World Use Cases:</a:t>
            </a:r>
            <a:r>
              <a:rPr lang="en-US" sz="2591">
                <a:solidFill>
                  <a:srgbClr val="1C1C1C"/>
                </a:solidFill>
                <a:latin typeface="Catamaran"/>
                <a:ea typeface="Catamaran"/>
                <a:cs typeface="Catamaran"/>
                <a:sym typeface="Catamaran"/>
              </a:rPr>
              <a:t> Medical</a:t>
            </a:r>
          </a:p>
          <a:p>
            <a:pPr algn="l">
              <a:lnSpc>
                <a:spcPts val="1295"/>
              </a:lnSpc>
            </a:pPr>
            <a:r>
              <a:rPr lang="en-US" sz="2591">
                <a:solidFill>
                  <a:srgbClr val="1C1C1C"/>
                </a:solidFill>
                <a:latin typeface="Catamaran"/>
                <a:ea typeface="Catamaran"/>
                <a:cs typeface="Catamaran"/>
                <a:sym typeface="Catamaran"/>
              </a:rPr>
              <a:t>imaging, facial recognition,</a:t>
            </a:r>
          </a:p>
          <a:p>
            <a:pPr algn="l">
              <a:lnSpc>
                <a:spcPts val="4836"/>
              </a:lnSpc>
            </a:pPr>
            <a:r>
              <a:rPr lang="en-US" sz="2591">
                <a:solidFill>
                  <a:srgbClr val="1C1C1C"/>
                </a:solidFill>
                <a:latin typeface="Catamaran"/>
                <a:ea typeface="Catamaran"/>
                <a:cs typeface="Catamaran"/>
                <a:sym typeface="Catamaran"/>
              </a:rPr>
              <a:t>autonomous vehicles.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50841" y="1117521"/>
            <a:ext cx="10480558" cy="1705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6000" b="1">
                <a:solidFill>
                  <a:srgbClr val="1C1C1C"/>
                </a:solidFill>
                <a:latin typeface="Inter Bold"/>
                <a:ea typeface="Inter Bold"/>
                <a:cs typeface="Inter Bold"/>
                <a:sym typeface="Inter Bold"/>
              </a:rPr>
              <a:t>ROLE OF AI/ML </a:t>
            </a:r>
          </a:p>
          <a:p>
            <a:pPr algn="l">
              <a:lnSpc>
                <a:spcPts val="4449"/>
              </a:lnSpc>
            </a:pPr>
            <a:r>
              <a:rPr lang="en-US" sz="3757" b="1">
                <a:solidFill>
                  <a:srgbClr val="1C1C1C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Computer Vision + Convulational Neural Network (CNNs)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302701" y="2221401"/>
            <a:ext cx="231800" cy="25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"/>
              </a:lnSpc>
            </a:pPr>
            <a:r>
              <a:rPr lang="en-US" sz="100" b="1">
                <a:solidFill>
                  <a:srgbClr val="1C1C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Facia image is uploaded or captured.</a:t>
            </a:r>
          </a:p>
        </p:txBody>
      </p:sp>
      <p:sp>
        <p:nvSpPr>
          <p:cNvPr id="28" name="Freeform 28"/>
          <p:cNvSpPr/>
          <p:nvPr/>
        </p:nvSpPr>
        <p:spPr>
          <a:xfrm>
            <a:off x="16490210" y="-22997"/>
            <a:ext cx="1797790" cy="1797790"/>
          </a:xfrm>
          <a:custGeom>
            <a:avLst/>
            <a:gdLst/>
            <a:ahLst/>
            <a:cxnLst/>
            <a:rect l="l" t="t" r="r" b="b"/>
            <a:pathLst>
              <a:path w="1797790" h="1797790">
                <a:moveTo>
                  <a:pt x="0" y="0"/>
                </a:moveTo>
                <a:lnTo>
                  <a:pt x="1797790" y="0"/>
                </a:lnTo>
                <a:lnTo>
                  <a:pt x="1797790" y="1797790"/>
                </a:lnTo>
                <a:lnTo>
                  <a:pt x="0" y="17977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83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4992203" y="4216365"/>
            <a:ext cx="2569664" cy="1422502"/>
            <a:chOff x="0" y="0"/>
            <a:chExt cx="2569667" cy="1422502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2442591" cy="1137285"/>
            </a:xfrm>
            <a:custGeom>
              <a:avLst/>
              <a:gdLst/>
              <a:ahLst/>
              <a:cxnLst/>
              <a:rect l="l" t="t" r="r" b="b"/>
              <a:pathLst>
                <a:path w="2442591" h="1137285">
                  <a:moveTo>
                    <a:pt x="0" y="0"/>
                  </a:moveTo>
                  <a:lnTo>
                    <a:pt x="0" y="1137285"/>
                  </a:lnTo>
                  <a:lnTo>
                    <a:pt x="2442591" y="1137285"/>
                  </a:lnTo>
                  <a:lnTo>
                    <a:pt x="2442591" y="0"/>
                  </a:lnTo>
                  <a:close/>
                </a:path>
              </a:pathLst>
            </a:custGeom>
            <a:solidFill>
              <a:srgbClr val="E4D9E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/>
            <p:nvPr/>
          </p:nvSpPr>
          <p:spPr>
            <a:xfrm>
              <a:off x="84328" y="1298575"/>
              <a:ext cx="2384679" cy="27178"/>
            </a:xfrm>
            <a:custGeom>
              <a:avLst/>
              <a:gdLst/>
              <a:ahLst/>
              <a:cxnLst/>
              <a:rect l="l" t="t" r="r" b="b"/>
              <a:pathLst>
                <a:path w="2384679" h="27178">
                  <a:moveTo>
                    <a:pt x="0" y="0"/>
                  </a:moveTo>
                  <a:lnTo>
                    <a:pt x="0" y="27178"/>
                  </a:lnTo>
                  <a:lnTo>
                    <a:pt x="2384679" y="27178"/>
                  </a:lnTo>
                  <a:lnTo>
                    <a:pt x="2384679" y="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63500" y="63500"/>
              <a:ext cx="2442718" cy="1137412"/>
            </a:xfrm>
            <a:custGeom>
              <a:avLst/>
              <a:gdLst/>
              <a:ahLst/>
              <a:cxnLst/>
              <a:rect l="l" t="t" r="r" b="b"/>
              <a:pathLst>
                <a:path w="2442718" h="1137412">
                  <a:moveTo>
                    <a:pt x="0" y="1137412"/>
                  </a:moveTo>
                  <a:lnTo>
                    <a:pt x="2442718" y="1137412"/>
                  </a:lnTo>
                  <a:lnTo>
                    <a:pt x="24427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63500" y="1298702"/>
              <a:ext cx="2426208" cy="60325"/>
            </a:xfrm>
            <a:custGeom>
              <a:avLst/>
              <a:gdLst/>
              <a:ahLst/>
              <a:cxnLst/>
              <a:rect l="l" t="t" r="r" b="b"/>
              <a:pathLst>
                <a:path w="2426208" h="60325">
                  <a:moveTo>
                    <a:pt x="0" y="60325"/>
                  </a:moveTo>
                  <a:lnTo>
                    <a:pt x="2426208" y="60325"/>
                  </a:lnTo>
                  <a:lnTo>
                    <a:pt x="24262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7714267" y="4321688"/>
            <a:ext cx="4844110" cy="1254633"/>
            <a:chOff x="0" y="0"/>
            <a:chExt cx="4844110" cy="1254633"/>
          </a:xfrm>
        </p:grpSpPr>
        <p:sp>
          <p:nvSpPr>
            <p:cNvPr id="8" name="Freeform 8"/>
            <p:cNvSpPr/>
            <p:nvPr/>
          </p:nvSpPr>
          <p:spPr>
            <a:xfrm>
              <a:off x="63500" y="63500"/>
              <a:ext cx="4717161" cy="1127633"/>
            </a:xfrm>
            <a:custGeom>
              <a:avLst/>
              <a:gdLst/>
              <a:ahLst/>
              <a:cxnLst/>
              <a:rect l="l" t="t" r="r" b="b"/>
              <a:pathLst>
                <a:path w="4717161" h="1127633">
                  <a:moveTo>
                    <a:pt x="0" y="0"/>
                  </a:moveTo>
                  <a:lnTo>
                    <a:pt x="0" y="1127633"/>
                  </a:lnTo>
                  <a:lnTo>
                    <a:pt x="4717161" y="1127633"/>
                  </a:lnTo>
                  <a:lnTo>
                    <a:pt x="47171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63500" y="63500"/>
              <a:ext cx="4717034" cy="1127633"/>
            </a:xfrm>
            <a:custGeom>
              <a:avLst/>
              <a:gdLst/>
              <a:ahLst/>
              <a:cxnLst/>
              <a:rect l="l" t="t" r="r" b="b"/>
              <a:pathLst>
                <a:path w="4717034" h="1127633">
                  <a:moveTo>
                    <a:pt x="0" y="1127633"/>
                  </a:moveTo>
                  <a:lnTo>
                    <a:pt x="4717034" y="1127633"/>
                  </a:lnTo>
                  <a:lnTo>
                    <a:pt x="471703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072014" y="4514502"/>
            <a:ext cx="410042" cy="826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48282" y="4434264"/>
            <a:ext cx="3000613" cy="906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4"/>
              </a:lnSpc>
            </a:pPr>
            <a:r>
              <a:rPr lang="en-US" sz="2999">
                <a:solidFill>
                  <a:srgbClr val="1C1C1C"/>
                </a:solidFill>
                <a:latin typeface="Arimo"/>
                <a:ea typeface="Arimo"/>
                <a:cs typeface="Arimo"/>
                <a:sym typeface="Arimo"/>
              </a:rPr>
              <a:t>PERSONALIZED CHATBOX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92203" y="5950652"/>
            <a:ext cx="6472180" cy="86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730">
                <a:solidFill>
                  <a:srgbClr val="1C1C1C"/>
                </a:solidFill>
                <a:latin typeface="Catamaran"/>
                <a:ea typeface="Catamaran"/>
                <a:cs typeface="Catamaran"/>
                <a:sym typeface="Catamaran"/>
              </a:rPr>
              <a:t>Provide product recommendations based on detected skin conditions.</a:t>
            </a:r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1155089" y="1365509"/>
            <a:ext cx="2553243" cy="1428283"/>
            <a:chOff x="0" y="0"/>
            <a:chExt cx="2553233" cy="1428280"/>
          </a:xfrm>
        </p:grpSpPr>
        <p:sp>
          <p:nvSpPr>
            <p:cNvPr id="14" name="Freeform 14"/>
            <p:cNvSpPr/>
            <p:nvPr/>
          </p:nvSpPr>
          <p:spPr>
            <a:xfrm>
              <a:off x="90678" y="63500"/>
              <a:ext cx="2399030" cy="1117092"/>
            </a:xfrm>
            <a:custGeom>
              <a:avLst/>
              <a:gdLst/>
              <a:ahLst/>
              <a:cxnLst/>
              <a:rect l="l" t="t" r="r" b="b"/>
              <a:pathLst>
                <a:path w="2399030" h="1117092">
                  <a:moveTo>
                    <a:pt x="0" y="0"/>
                  </a:moveTo>
                  <a:lnTo>
                    <a:pt x="0" y="1117092"/>
                  </a:lnTo>
                  <a:lnTo>
                    <a:pt x="2399030" y="1117092"/>
                  </a:lnTo>
                  <a:lnTo>
                    <a:pt x="2399030" y="0"/>
                  </a:lnTo>
                  <a:close/>
                </a:path>
              </a:pathLst>
            </a:custGeom>
            <a:solidFill>
              <a:srgbClr val="8EB0B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84328" y="1304417"/>
              <a:ext cx="2384679" cy="27178"/>
            </a:xfrm>
            <a:custGeom>
              <a:avLst/>
              <a:gdLst/>
              <a:ahLst/>
              <a:cxnLst/>
              <a:rect l="l" t="t" r="r" b="b"/>
              <a:pathLst>
                <a:path w="2384679" h="27178">
                  <a:moveTo>
                    <a:pt x="0" y="0"/>
                  </a:moveTo>
                  <a:lnTo>
                    <a:pt x="0" y="27178"/>
                  </a:lnTo>
                  <a:lnTo>
                    <a:pt x="2384679" y="27178"/>
                  </a:lnTo>
                  <a:lnTo>
                    <a:pt x="2384679" y="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90678" y="63500"/>
              <a:ext cx="2399030" cy="1117092"/>
            </a:xfrm>
            <a:custGeom>
              <a:avLst/>
              <a:gdLst/>
              <a:ahLst/>
              <a:cxnLst/>
              <a:rect l="l" t="t" r="r" b="b"/>
              <a:pathLst>
                <a:path w="2399030" h="1117092">
                  <a:moveTo>
                    <a:pt x="0" y="1117092"/>
                  </a:moveTo>
                  <a:lnTo>
                    <a:pt x="2399030" y="1117092"/>
                  </a:lnTo>
                  <a:lnTo>
                    <a:pt x="23990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63500" y="1304417"/>
              <a:ext cx="2426208" cy="60325"/>
            </a:xfrm>
            <a:custGeom>
              <a:avLst/>
              <a:gdLst/>
              <a:ahLst/>
              <a:cxnLst/>
              <a:rect l="l" t="t" r="r" b="b"/>
              <a:pathLst>
                <a:path w="2426208" h="60325">
                  <a:moveTo>
                    <a:pt x="0" y="60325"/>
                  </a:moveTo>
                  <a:lnTo>
                    <a:pt x="2426208" y="60325"/>
                  </a:lnTo>
                  <a:lnTo>
                    <a:pt x="24262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3919091" y="1405147"/>
            <a:ext cx="3989508" cy="1254633"/>
            <a:chOff x="0" y="0"/>
            <a:chExt cx="3989502" cy="1254633"/>
          </a:xfrm>
        </p:grpSpPr>
        <p:sp>
          <p:nvSpPr>
            <p:cNvPr id="19" name="Freeform 19"/>
            <p:cNvSpPr/>
            <p:nvPr/>
          </p:nvSpPr>
          <p:spPr>
            <a:xfrm>
              <a:off x="63500" y="63500"/>
              <a:ext cx="3862451" cy="1127633"/>
            </a:xfrm>
            <a:custGeom>
              <a:avLst/>
              <a:gdLst/>
              <a:ahLst/>
              <a:cxnLst/>
              <a:rect l="l" t="t" r="r" b="b"/>
              <a:pathLst>
                <a:path w="3862451" h="1127633">
                  <a:moveTo>
                    <a:pt x="0" y="0"/>
                  </a:moveTo>
                  <a:lnTo>
                    <a:pt x="0" y="1127633"/>
                  </a:lnTo>
                  <a:lnTo>
                    <a:pt x="3862451" y="1127633"/>
                  </a:lnTo>
                  <a:lnTo>
                    <a:pt x="38624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63500" y="63500"/>
              <a:ext cx="3862451" cy="1127633"/>
            </a:xfrm>
            <a:custGeom>
              <a:avLst/>
              <a:gdLst/>
              <a:ahLst/>
              <a:cxnLst/>
              <a:rect l="l" t="t" r="r" b="b"/>
              <a:pathLst>
                <a:path w="3862451" h="1127633">
                  <a:moveTo>
                    <a:pt x="0" y="1127633"/>
                  </a:moveTo>
                  <a:lnTo>
                    <a:pt x="3862451" y="1127633"/>
                  </a:lnTo>
                  <a:lnTo>
                    <a:pt x="38624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320126" y="1739834"/>
            <a:ext cx="421519" cy="826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C1C1C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919311" y="1670647"/>
            <a:ext cx="2028682" cy="89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4"/>
              </a:lnSpc>
            </a:pPr>
            <a:r>
              <a:rPr lang="en-US" sz="2999">
                <a:solidFill>
                  <a:srgbClr val="1C1C1C"/>
                </a:solidFill>
                <a:latin typeface="Arimo"/>
                <a:ea typeface="Arimo"/>
                <a:cs typeface="Arimo"/>
                <a:sym typeface="Arimo"/>
              </a:rPr>
              <a:t>EXPERT  CONNECT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79654" y="3066850"/>
            <a:ext cx="6509976" cy="86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730">
                <a:solidFill>
                  <a:srgbClr val="1C1C1C"/>
                </a:solidFill>
                <a:latin typeface="Catamaran"/>
                <a:ea typeface="Catamaran"/>
                <a:cs typeface="Catamaran"/>
                <a:sym typeface="Catamaran"/>
              </a:rPr>
              <a:t>Help users locate dermatologists by location, providing contact details and addresses.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5088" y="179961"/>
            <a:ext cx="6550676" cy="1138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1">
                <a:solidFill>
                  <a:srgbClr val="1C1C1C"/>
                </a:solidFill>
                <a:latin typeface="Inter Bold"/>
                <a:ea typeface="Inter Bold"/>
                <a:cs typeface="Inter Bold"/>
                <a:sym typeface="Inter Bold"/>
              </a:rPr>
              <a:t>FUTURE SCOPE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165398" y="1318322"/>
            <a:ext cx="6050366" cy="2950940"/>
            <a:chOff x="0" y="0"/>
            <a:chExt cx="8067154" cy="3934587"/>
          </a:xfrm>
        </p:grpSpPr>
        <p:grpSp>
          <p:nvGrpSpPr>
            <p:cNvPr id="26" name="Group 26"/>
            <p:cNvGrpSpPr>
              <a:grpSpLocks noChangeAspect="1"/>
            </p:cNvGrpSpPr>
            <p:nvPr/>
          </p:nvGrpSpPr>
          <p:grpSpPr>
            <a:xfrm>
              <a:off x="0" y="0"/>
              <a:ext cx="3368104" cy="1685823"/>
              <a:chOff x="0" y="0"/>
              <a:chExt cx="2526081" cy="1264374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3500" y="63500"/>
                <a:ext cx="2399030" cy="1137285"/>
              </a:xfrm>
              <a:custGeom>
                <a:avLst/>
                <a:gdLst/>
                <a:ahLst/>
                <a:cxnLst/>
                <a:rect l="l" t="t" r="r" b="b"/>
                <a:pathLst>
                  <a:path w="2399030" h="1137285">
                    <a:moveTo>
                      <a:pt x="0" y="0"/>
                    </a:moveTo>
                    <a:lnTo>
                      <a:pt x="0" y="1137285"/>
                    </a:lnTo>
                    <a:lnTo>
                      <a:pt x="2399030" y="1137285"/>
                    </a:lnTo>
                    <a:lnTo>
                      <a:pt x="2399030" y="0"/>
                    </a:lnTo>
                    <a:close/>
                  </a:path>
                </a:pathLst>
              </a:custGeom>
              <a:solidFill>
                <a:srgbClr val="D09E96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63500" y="63500"/>
                <a:ext cx="2399030" cy="1137412"/>
              </a:xfrm>
              <a:custGeom>
                <a:avLst/>
                <a:gdLst/>
                <a:ahLst/>
                <a:cxnLst/>
                <a:rect l="l" t="t" r="r" b="b"/>
                <a:pathLst>
                  <a:path w="2399030" h="1137412">
                    <a:moveTo>
                      <a:pt x="0" y="1137412"/>
                    </a:moveTo>
                    <a:lnTo>
                      <a:pt x="2399030" y="1137412"/>
                    </a:lnTo>
                    <a:lnTo>
                      <a:pt x="239903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9" name="Group 29"/>
            <p:cNvGrpSpPr>
              <a:grpSpLocks noChangeAspect="1"/>
            </p:cNvGrpSpPr>
            <p:nvPr/>
          </p:nvGrpSpPr>
          <p:grpSpPr>
            <a:xfrm>
              <a:off x="0" y="1687093"/>
              <a:ext cx="3404324" cy="249834"/>
              <a:chOff x="0" y="0"/>
              <a:chExt cx="2553233" cy="18737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4328" y="63500"/>
                <a:ext cx="2384679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384679" h="27305">
                    <a:moveTo>
                      <a:pt x="0" y="0"/>
                    </a:moveTo>
                    <a:lnTo>
                      <a:pt x="0" y="27305"/>
                    </a:lnTo>
                    <a:lnTo>
                      <a:pt x="2384679" y="27305"/>
                    </a:lnTo>
                    <a:lnTo>
                      <a:pt x="2384679" y="0"/>
                    </a:lnTo>
                    <a:close/>
                  </a:path>
                </a:pathLst>
              </a:custGeom>
              <a:solidFill>
                <a:srgbClr val="1C1C1C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31"/>
              <p:cNvSpPr/>
              <p:nvPr/>
            </p:nvSpPr>
            <p:spPr>
              <a:xfrm>
                <a:off x="63500" y="63500"/>
                <a:ext cx="2426208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2426208" h="60325">
                    <a:moveTo>
                      <a:pt x="0" y="60325"/>
                    </a:moveTo>
                    <a:lnTo>
                      <a:pt x="2426208" y="60325"/>
                    </a:lnTo>
                    <a:lnTo>
                      <a:pt x="242620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32" name="Group 32"/>
            <p:cNvGrpSpPr>
              <a:grpSpLocks noChangeAspect="1"/>
            </p:cNvGrpSpPr>
            <p:nvPr/>
          </p:nvGrpSpPr>
          <p:grpSpPr>
            <a:xfrm>
              <a:off x="3600895" y="17691"/>
              <a:ext cx="4466260" cy="1734782"/>
              <a:chOff x="0" y="0"/>
              <a:chExt cx="3349701" cy="130109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3500" y="63500"/>
                <a:ext cx="3222752" cy="1174115"/>
              </a:xfrm>
              <a:custGeom>
                <a:avLst/>
                <a:gdLst/>
                <a:ahLst/>
                <a:cxnLst/>
                <a:rect l="l" t="t" r="r" b="b"/>
                <a:pathLst>
                  <a:path w="3222752" h="1174115">
                    <a:moveTo>
                      <a:pt x="0" y="0"/>
                    </a:moveTo>
                    <a:lnTo>
                      <a:pt x="0" y="1174115"/>
                    </a:lnTo>
                    <a:lnTo>
                      <a:pt x="3222752" y="1174115"/>
                    </a:lnTo>
                    <a:lnTo>
                      <a:pt x="3222752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63500" y="63500"/>
                <a:ext cx="3222625" cy="1174115"/>
              </a:xfrm>
              <a:custGeom>
                <a:avLst/>
                <a:gdLst/>
                <a:ahLst/>
                <a:cxnLst/>
                <a:rect l="l" t="t" r="r" b="b"/>
                <a:pathLst>
                  <a:path w="3222625" h="1174115">
                    <a:moveTo>
                      <a:pt x="0" y="1174115"/>
                    </a:moveTo>
                    <a:lnTo>
                      <a:pt x="3222625" y="1174115"/>
                    </a:lnTo>
                    <a:lnTo>
                      <a:pt x="322262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1487221" y="592569"/>
              <a:ext cx="401206" cy="10900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859"/>
                </a:lnSpc>
              </a:pPr>
              <a:r>
                <a:rPr lang="en-US" sz="4899" b="1">
                  <a:solidFill>
                    <a:srgbClr val="1C1C1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37050" y="438379"/>
              <a:ext cx="2849321" cy="12053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24"/>
                </a:lnSpc>
              </a:pPr>
              <a:r>
                <a:rPr lang="en-US" sz="2999">
                  <a:solidFill>
                    <a:srgbClr val="1C1C1C"/>
                  </a:solidFill>
                  <a:latin typeface="Arimo"/>
                  <a:ea typeface="Arimo"/>
                  <a:cs typeface="Arimo"/>
                  <a:sym typeface="Arimo"/>
                </a:rPr>
                <a:t>FACIAL PRECISION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671" y="2229790"/>
              <a:ext cx="7054850" cy="17047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43"/>
                </a:lnSpc>
              </a:pPr>
              <a:r>
                <a:rPr lang="en-US" sz="2732">
                  <a:solidFill>
                    <a:srgbClr val="1C1C1C"/>
                  </a:solidFill>
                  <a:latin typeface="Catamaran"/>
                  <a:ea typeface="Catamaran"/>
                  <a:cs typeface="Catamaran"/>
                  <a:sym typeface="Catamaran"/>
                </a:rPr>
                <a:t>We'll train our AI model with diverse, high-quality facial images to boost accuracy.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65398" y="7164524"/>
            <a:ext cx="6077512" cy="2467678"/>
            <a:chOff x="0" y="0"/>
            <a:chExt cx="8103349" cy="3290237"/>
          </a:xfrm>
        </p:grpSpPr>
        <p:grpSp>
          <p:nvGrpSpPr>
            <p:cNvPr id="39" name="Group 39"/>
            <p:cNvGrpSpPr>
              <a:grpSpLocks noChangeAspect="1"/>
            </p:cNvGrpSpPr>
            <p:nvPr/>
          </p:nvGrpSpPr>
          <p:grpSpPr>
            <a:xfrm>
              <a:off x="0" y="0"/>
              <a:ext cx="3440532" cy="1904378"/>
              <a:chOff x="0" y="0"/>
              <a:chExt cx="2580399" cy="142828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117856" y="63500"/>
                <a:ext cx="2399030" cy="1117092"/>
              </a:xfrm>
              <a:custGeom>
                <a:avLst/>
                <a:gdLst/>
                <a:ahLst/>
                <a:cxnLst/>
                <a:rect l="l" t="t" r="r" b="b"/>
                <a:pathLst>
                  <a:path w="2399030" h="1117092">
                    <a:moveTo>
                      <a:pt x="0" y="0"/>
                    </a:moveTo>
                    <a:lnTo>
                      <a:pt x="0" y="1117092"/>
                    </a:lnTo>
                    <a:lnTo>
                      <a:pt x="2399030" y="1117092"/>
                    </a:lnTo>
                    <a:lnTo>
                      <a:pt x="2399030" y="0"/>
                    </a:lnTo>
                    <a:close/>
                  </a:path>
                </a:pathLst>
              </a:custGeom>
              <a:solidFill>
                <a:srgbClr val="87AFC6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84328" y="1304417"/>
                <a:ext cx="2384679" cy="27178"/>
              </a:xfrm>
              <a:custGeom>
                <a:avLst/>
                <a:gdLst/>
                <a:ahLst/>
                <a:cxnLst/>
                <a:rect l="l" t="t" r="r" b="b"/>
                <a:pathLst>
                  <a:path w="2384679" h="27178">
                    <a:moveTo>
                      <a:pt x="0" y="0"/>
                    </a:moveTo>
                    <a:lnTo>
                      <a:pt x="0" y="27178"/>
                    </a:lnTo>
                    <a:lnTo>
                      <a:pt x="2384679" y="27178"/>
                    </a:lnTo>
                    <a:lnTo>
                      <a:pt x="2384679" y="0"/>
                    </a:lnTo>
                    <a:close/>
                  </a:path>
                </a:pathLst>
              </a:custGeom>
              <a:solidFill>
                <a:srgbClr val="1C1C1C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42"/>
              <p:cNvSpPr/>
              <p:nvPr/>
            </p:nvSpPr>
            <p:spPr>
              <a:xfrm>
                <a:off x="117856" y="63500"/>
                <a:ext cx="2399030" cy="1117092"/>
              </a:xfrm>
              <a:custGeom>
                <a:avLst/>
                <a:gdLst/>
                <a:ahLst/>
                <a:cxnLst/>
                <a:rect l="l" t="t" r="r" b="b"/>
                <a:pathLst>
                  <a:path w="2399030" h="1117092">
                    <a:moveTo>
                      <a:pt x="0" y="1117092"/>
                    </a:moveTo>
                    <a:lnTo>
                      <a:pt x="2399030" y="1117092"/>
                    </a:lnTo>
                    <a:lnTo>
                      <a:pt x="239903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63500" y="1304417"/>
                <a:ext cx="2426208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2426208" h="60325">
                    <a:moveTo>
                      <a:pt x="0" y="60325"/>
                    </a:moveTo>
                    <a:lnTo>
                      <a:pt x="2426208" y="60325"/>
                    </a:lnTo>
                    <a:lnTo>
                      <a:pt x="242620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44" name="Group 44"/>
            <p:cNvGrpSpPr>
              <a:grpSpLocks noChangeAspect="1"/>
            </p:cNvGrpSpPr>
            <p:nvPr/>
          </p:nvGrpSpPr>
          <p:grpSpPr>
            <a:xfrm>
              <a:off x="3637102" y="0"/>
              <a:ext cx="4466247" cy="1685823"/>
              <a:chOff x="0" y="0"/>
              <a:chExt cx="3349688" cy="1264374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3500" y="63500"/>
                <a:ext cx="3221101" cy="1137412"/>
              </a:xfrm>
              <a:custGeom>
                <a:avLst/>
                <a:gdLst/>
                <a:ahLst/>
                <a:cxnLst/>
                <a:rect l="l" t="t" r="r" b="b"/>
                <a:pathLst>
                  <a:path w="3221101" h="1137412">
                    <a:moveTo>
                      <a:pt x="0" y="0"/>
                    </a:moveTo>
                    <a:lnTo>
                      <a:pt x="3221101" y="0"/>
                    </a:lnTo>
                    <a:lnTo>
                      <a:pt x="3221101" y="1137412"/>
                    </a:lnTo>
                    <a:lnTo>
                      <a:pt x="0" y="113741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63500" y="63500"/>
                <a:ext cx="3222625" cy="1137412"/>
              </a:xfrm>
              <a:custGeom>
                <a:avLst/>
                <a:gdLst/>
                <a:ahLst/>
                <a:cxnLst/>
                <a:rect l="l" t="t" r="r" b="b"/>
                <a:pathLst>
                  <a:path w="3222625" h="1137412">
                    <a:moveTo>
                      <a:pt x="0" y="1137412"/>
                    </a:moveTo>
                    <a:lnTo>
                      <a:pt x="3222625" y="1137412"/>
                    </a:lnTo>
                    <a:lnTo>
                      <a:pt x="322262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1500314" y="593192"/>
              <a:ext cx="522288" cy="10697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719"/>
                </a:lnSpc>
              </a:pPr>
              <a:r>
                <a:rPr lang="en-US" sz="4800" b="1">
                  <a:solidFill>
                    <a:srgbClr val="1C1C1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572076" y="369875"/>
              <a:ext cx="2648001" cy="12053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24"/>
                </a:lnSpc>
              </a:pPr>
              <a:r>
                <a:rPr lang="en-US" sz="2999">
                  <a:solidFill>
                    <a:srgbClr val="1C1C1C"/>
                  </a:solidFill>
                  <a:latin typeface="Arimo"/>
                  <a:ea typeface="Arimo"/>
                  <a:cs typeface="Arimo"/>
                  <a:sym typeface="Arimo"/>
                </a:rPr>
                <a:t>SKINCARE CHATBOX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671" y="2201443"/>
              <a:ext cx="7373303" cy="10887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99"/>
                </a:lnSpc>
              </a:pPr>
              <a:r>
                <a:rPr lang="en-US" sz="2779">
                  <a:solidFill>
                    <a:srgbClr val="1C1C1C"/>
                  </a:solidFill>
                  <a:latin typeface="Catamaran"/>
                  <a:ea typeface="Catamaran"/>
                  <a:cs typeface="Catamaran"/>
                  <a:sym typeface="Catamaran"/>
                </a:rPr>
                <a:t>A chatbot that answers common skincare queries based on AI analysis.</a:t>
              </a:r>
            </a:p>
          </p:txBody>
        </p:sp>
      </p:grpSp>
      <p:grpSp>
        <p:nvGrpSpPr>
          <p:cNvPr id="50" name="Group 50"/>
          <p:cNvGrpSpPr>
            <a:grpSpLocks noChangeAspect="1"/>
          </p:cNvGrpSpPr>
          <p:nvPr/>
        </p:nvGrpSpPr>
        <p:grpSpPr>
          <a:xfrm>
            <a:off x="11043504" y="7164524"/>
            <a:ext cx="2553243" cy="1428283"/>
            <a:chOff x="0" y="0"/>
            <a:chExt cx="2553233" cy="1428280"/>
          </a:xfrm>
        </p:grpSpPr>
        <p:sp>
          <p:nvSpPr>
            <p:cNvPr id="51" name="Freeform 51"/>
            <p:cNvSpPr/>
            <p:nvPr/>
          </p:nvSpPr>
          <p:spPr>
            <a:xfrm>
              <a:off x="90678" y="63500"/>
              <a:ext cx="2399030" cy="1117092"/>
            </a:xfrm>
            <a:custGeom>
              <a:avLst/>
              <a:gdLst/>
              <a:ahLst/>
              <a:cxnLst/>
              <a:rect l="l" t="t" r="r" b="b"/>
              <a:pathLst>
                <a:path w="2399030" h="1117092">
                  <a:moveTo>
                    <a:pt x="0" y="0"/>
                  </a:moveTo>
                  <a:lnTo>
                    <a:pt x="0" y="1117092"/>
                  </a:lnTo>
                  <a:lnTo>
                    <a:pt x="2399030" y="1117092"/>
                  </a:lnTo>
                  <a:lnTo>
                    <a:pt x="2399030" y="0"/>
                  </a:lnTo>
                  <a:close/>
                </a:path>
              </a:pathLst>
            </a:custGeom>
            <a:solidFill>
              <a:srgbClr val="2E556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Freeform 52"/>
            <p:cNvSpPr/>
            <p:nvPr/>
          </p:nvSpPr>
          <p:spPr>
            <a:xfrm>
              <a:off x="84328" y="1304417"/>
              <a:ext cx="2384679" cy="27178"/>
            </a:xfrm>
            <a:custGeom>
              <a:avLst/>
              <a:gdLst/>
              <a:ahLst/>
              <a:cxnLst/>
              <a:rect l="l" t="t" r="r" b="b"/>
              <a:pathLst>
                <a:path w="2384679" h="27178">
                  <a:moveTo>
                    <a:pt x="0" y="0"/>
                  </a:moveTo>
                  <a:lnTo>
                    <a:pt x="0" y="27178"/>
                  </a:lnTo>
                  <a:lnTo>
                    <a:pt x="2384679" y="27178"/>
                  </a:lnTo>
                  <a:lnTo>
                    <a:pt x="2384679" y="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53"/>
            <p:cNvSpPr/>
            <p:nvPr/>
          </p:nvSpPr>
          <p:spPr>
            <a:xfrm>
              <a:off x="90678" y="63500"/>
              <a:ext cx="2399030" cy="1117092"/>
            </a:xfrm>
            <a:custGeom>
              <a:avLst/>
              <a:gdLst/>
              <a:ahLst/>
              <a:cxnLst/>
              <a:rect l="l" t="t" r="r" b="b"/>
              <a:pathLst>
                <a:path w="2399030" h="1117092">
                  <a:moveTo>
                    <a:pt x="0" y="1117092"/>
                  </a:moveTo>
                  <a:lnTo>
                    <a:pt x="2399030" y="1117092"/>
                  </a:lnTo>
                  <a:lnTo>
                    <a:pt x="23990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63500" y="1304417"/>
              <a:ext cx="2426208" cy="60325"/>
            </a:xfrm>
            <a:custGeom>
              <a:avLst/>
              <a:gdLst/>
              <a:ahLst/>
              <a:cxnLst/>
              <a:rect l="l" t="t" r="r" b="b"/>
              <a:pathLst>
                <a:path w="2426208" h="60325">
                  <a:moveTo>
                    <a:pt x="0" y="60325"/>
                  </a:moveTo>
                  <a:lnTo>
                    <a:pt x="2426208" y="60325"/>
                  </a:lnTo>
                  <a:lnTo>
                    <a:pt x="24262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1043504" y="8869032"/>
            <a:ext cx="6509976" cy="1206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730">
                <a:solidFill>
                  <a:srgbClr val="1C1C1C"/>
                </a:solidFill>
                <a:latin typeface="Catamaran"/>
                <a:ea typeface="Catamaran"/>
                <a:cs typeface="Catamaran"/>
                <a:sym typeface="Catamaran"/>
              </a:rPr>
              <a:t>Advanced imaging and AI tools enhance fundus analysis for early detection of diabetic eye diseases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2220950" y="7420513"/>
            <a:ext cx="421519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C1C1C"/>
                </a:solidFill>
                <a:latin typeface="Inter Bold"/>
                <a:ea typeface="Inter Bold"/>
                <a:cs typeface="Inter Bold"/>
                <a:sym typeface="Inter Bold"/>
              </a:rPr>
              <a:t>5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13919091" y="7251349"/>
            <a:ext cx="3989508" cy="1254633"/>
            <a:chOff x="0" y="0"/>
            <a:chExt cx="5319344" cy="1672844"/>
          </a:xfrm>
        </p:grpSpPr>
        <p:grpSp>
          <p:nvGrpSpPr>
            <p:cNvPr id="58" name="Group 58"/>
            <p:cNvGrpSpPr>
              <a:grpSpLocks noChangeAspect="1"/>
            </p:cNvGrpSpPr>
            <p:nvPr/>
          </p:nvGrpSpPr>
          <p:grpSpPr>
            <a:xfrm>
              <a:off x="0" y="0"/>
              <a:ext cx="5319344" cy="1672844"/>
              <a:chOff x="0" y="0"/>
              <a:chExt cx="3989502" cy="125463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3500" y="63500"/>
                <a:ext cx="3862451" cy="1127633"/>
              </a:xfrm>
              <a:custGeom>
                <a:avLst/>
                <a:gdLst/>
                <a:ahLst/>
                <a:cxnLst/>
                <a:rect l="l" t="t" r="r" b="b"/>
                <a:pathLst>
                  <a:path w="3862451" h="1127633">
                    <a:moveTo>
                      <a:pt x="0" y="0"/>
                    </a:moveTo>
                    <a:lnTo>
                      <a:pt x="0" y="1127633"/>
                    </a:lnTo>
                    <a:lnTo>
                      <a:pt x="3862451" y="1127633"/>
                    </a:lnTo>
                    <a:lnTo>
                      <a:pt x="3862451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0" name="Freeform 60"/>
              <p:cNvSpPr/>
              <p:nvPr/>
            </p:nvSpPr>
            <p:spPr>
              <a:xfrm>
                <a:off x="63500" y="63500"/>
                <a:ext cx="3862451" cy="1127633"/>
              </a:xfrm>
              <a:custGeom>
                <a:avLst/>
                <a:gdLst/>
                <a:ahLst/>
                <a:cxnLst/>
                <a:rect l="l" t="t" r="r" b="b"/>
                <a:pathLst>
                  <a:path w="3862451" h="1127633">
                    <a:moveTo>
                      <a:pt x="0" y="1127633"/>
                    </a:moveTo>
                    <a:lnTo>
                      <a:pt x="3862451" y="1127633"/>
                    </a:lnTo>
                    <a:lnTo>
                      <a:pt x="38624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1" name="TextBox 61"/>
            <p:cNvSpPr txBox="1"/>
            <p:nvPr/>
          </p:nvSpPr>
          <p:spPr>
            <a:xfrm>
              <a:off x="1307217" y="225750"/>
              <a:ext cx="2704910" cy="11906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24"/>
                </a:lnSpc>
              </a:pPr>
              <a:r>
                <a:rPr lang="en-US" sz="2999">
                  <a:solidFill>
                    <a:srgbClr val="1C1C1C"/>
                  </a:solidFill>
                  <a:latin typeface="Arimo"/>
                  <a:ea typeface="Arimo"/>
                  <a:cs typeface="Arimo"/>
                  <a:sym typeface="Arimo"/>
                </a:rPr>
                <a:t>FUNDUS IMAGING</a:t>
              </a:r>
            </a:p>
          </p:txBody>
        </p:sp>
      </p:grpSp>
      <p:sp>
        <p:nvSpPr>
          <p:cNvPr id="62" name="Freeform 62"/>
          <p:cNvSpPr/>
          <p:nvPr/>
        </p:nvSpPr>
        <p:spPr>
          <a:xfrm>
            <a:off x="16654584" y="-392643"/>
            <a:ext cx="1797790" cy="1797790"/>
          </a:xfrm>
          <a:custGeom>
            <a:avLst/>
            <a:gdLst/>
            <a:ahLst/>
            <a:cxnLst/>
            <a:rect l="l" t="t" r="r" b="b"/>
            <a:pathLst>
              <a:path w="1797790" h="1797790">
                <a:moveTo>
                  <a:pt x="0" y="0"/>
                </a:moveTo>
                <a:lnTo>
                  <a:pt x="1797791" y="0"/>
                </a:lnTo>
                <a:lnTo>
                  <a:pt x="1797791" y="1797790"/>
                </a:lnTo>
                <a:lnTo>
                  <a:pt x="0" y="17977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3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1081" y="541621"/>
            <a:ext cx="6865838" cy="979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79"/>
              </a:lnSpc>
              <a:spcBef>
                <a:spcPct val="0"/>
              </a:spcBef>
            </a:pPr>
            <a:r>
              <a:rPr lang="en-US" sz="56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TEAM- SPOT FLAW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2852" y="9159364"/>
            <a:ext cx="17001618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FACULTY COORDINATOR : MR. VISHWAMBHAR PATHAK</a:t>
            </a:r>
          </a:p>
        </p:txBody>
      </p:sp>
      <p:sp>
        <p:nvSpPr>
          <p:cNvPr id="5" name="Freeform 5"/>
          <p:cNvSpPr/>
          <p:nvPr/>
        </p:nvSpPr>
        <p:spPr>
          <a:xfrm>
            <a:off x="16490210" y="0"/>
            <a:ext cx="1797790" cy="1797790"/>
          </a:xfrm>
          <a:custGeom>
            <a:avLst/>
            <a:gdLst/>
            <a:ahLst/>
            <a:cxnLst/>
            <a:rect l="l" t="t" r="r" b="b"/>
            <a:pathLst>
              <a:path w="1797790" h="1797790">
                <a:moveTo>
                  <a:pt x="0" y="0"/>
                </a:moveTo>
                <a:lnTo>
                  <a:pt x="1797790" y="0"/>
                </a:lnTo>
                <a:lnTo>
                  <a:pt x="1797790" y="1797790"/>
                </a:lnTo>
                <a:lnTo>
                  <a:pt x="0" y="17977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3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D5DC5C2F-A56B-3195-FA4E-9F9FCDDCED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4996465"/>
              </p:ext>
            </p:extLst>
          </p:nvPr>
        </p:nvGraphicFramePr>
        <p:xfrm>
          <a:off x="4910236" y="3314700"/>
          <a:ext cx="8946849" cy="5283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524</Words>
  <Application>Microsoft Office PowerPoint</Application>
  <PresentationFormat>Custom</PresentationFormat>
  <Paragraphs>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Canva Sans Bold</vt:lpstr>
      <vt:lpstr>Canva Sans</vt:lpstr>
      <vt:lpstr>Catamaran</vt:lpstr>
      <vt:lpstr>Inter Bold</vt:lpstr>
      <vt:lpstr>DM Sans</vt:lpstr>
      <vt:lpstr>Catamaran Bold</vt:lpstr>
      <vt:lpstr>Arial</vt:lpstr>
      <vt:lpstr>Arimo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SPOTFLAW PPT</dc:title>
  <cp:lastModifiedBy>Vedanshi Goyal</cp:lastModifiedBy>
  <cp:revision>2</cp:revision>
  <dcterms:created xsi:type="dcterms:W3CDTF">2006-08-16T00:00:00Z</dcterms:created>
  <dcterms:modified xsi:type="dcterms:W3CDTF">2025-07-13T10:27:56Z</dcterms:modified>
  <dc:identifier>DAGtBlBb3Z4</dc:identifier>
</cp:coreProperties>
</file>